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Kanit Light" panose="020B0604020202020204" charset="-34"/>
      <p:regular r:id="rId22"/>
    </p:embeddedFont>
    <p:embeddedFont>
      <p:font typeface="Martel Sans" panose="020B0604020202020204" charset="0"/>
      <p:regular r:id="rId23"/>
    </p:embeddedFont>
    <p:embeddedFont>
      <p:font typeface="Martel Sans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57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7.jpe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>
            <a:alphaModFix amt="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947570" y="69117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Nodus</a:t>
            </a:r>
            <a:endParaRPr lang="en-US" sz="6000" b="1" dirty="0">
              <a:solidFill>
                <a:srgbClr val="008200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3050992" y="1710441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Profile Management System</a:t>
            </a:r>
            <a:endParaRPr lang="en-US" sz="1850" dirty="0">
              <a:solidFill>
                <a:srgbClr val="008200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3050992" y="2071688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3000"/>
              </a:lnSpc>
              <a:spcAft>
                <a:spcPts val="1650"/>
              </a:spcAft>
            </a:pPr>
            <a:r>
              <a:rPr lang="en-US" sz="1450" dirty="0">
                <a:solidFill>
                  <a:srgbClr val="0082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Frontend Engineering II (25CSE020)</a:t>
            </a:r>
            <a:endParaRPr lang="en-US" sz="1450" dirty="0">
              <a:solidFill>
                <a:srgbClr val="008200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528250" y="3542848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Presented By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-Pashvinder(Team Leader)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-Anushka Sahrawat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-Kartavya Garg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-Kartik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1475" y="5484416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60234-828C-9AB5-C0A2-35CD5053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65" t="16973"/>
          <a:stretch>
            <a:fillRect/>
          </a:stretch>
        </p:blipFill>
        <p:spPr>
          <a:xfrm>
            <a:off x="4934309" y="2864664"/>
            <a:ext cx="6915393" cy="3302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241BAF-E3FD-84B7-34CB-AB93A1EEA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62" y="319703"/>
            <a:ext cx="223837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1684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 with Student Data Tools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2117725"/>
            <a:ext cx="2932337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student data platforms are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dry, form-heavy CRUD systems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built to store data, not to tell a story. Colleges lack a unified, engaging way to view, manage, and explore student journeys.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298148" y="2304554"/>
            <a:ext cx="26665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Colleges deserve more than a spreadsheet with a login screen.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032348" y="2155130"/>
            <a:ext cx="19050" cy="1122759"/>
          </a:xfrm>
          <a:prstGeom prst="roundRect">
            <a:avLst>
              <a:gd name="adj" fmla="val 4999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01802"/>
            <a:ext cx="1988195" cy="21445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923" y="4298057"/>
            <a:ext cx="1519497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Fragmented Data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33923" y="4951512"/>
            <a:ext cx="1519497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single view connects academics, skills, and milestones.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5758" y="4101802"/>
            <a:ext cx="1988195" cy="21445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88206" y="4298057"/>
            <a:ext cx="1519497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Zero Engagement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088206" y="4951512"/>
            <a:ext cx="1519497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Static tables don't motivate students or faculty.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0041" y="4101802"/>
            <a:ext cx="1988294" cy="21445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42488" y="4298057"/>
            <a:ext cx="151959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Insight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5242488" y="4674592"/>
            <a:ext cx="1519596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records don't surface trends or career signals.</a:t>
            </a:r>
            <a:endParaRPr lang="en-US" sz="1350" dirty="0"/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5EEAF11B-1CCD-C536-9D84-985295CF8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315712-7349-FEB9-9822-20F9C36EE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13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Introducing Nodus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0001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student data platform that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actually feels like a product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intuitive, visual, and purpose-built for the modern campus.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1505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6832" y="321042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Frontend-Only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61910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entirely with HTML, CSS, and vanilla JavaScript — no backend required, fully self-contained.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01505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42716" y="321042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localStorage Persistence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61910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student data lives in the browser via localStorage, surviving refreshes and restarts with zero server dependency.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01505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8600" y="321042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Right-Scoped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61910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frontend-only approach is the ideal scope for this assessment — demonstrating mastery of DOM, state, and UX without backend complexity.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B746E5-20A2-716D-DD19-4B331D9B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9980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35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2238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HTML5 &amp; CSS3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66580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Semantic markup and modern styling form the structural and visual foundation.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192238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7383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Vanilla JavaScript ES6+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77383" y="2665809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Modules, arrow functions, destructuring — modern JS without any framework overhead.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19223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79042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localStorage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679042" y="266580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JSON.stringify / JSON.parse power a lightweight, browser-native data persistence layer.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350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723" y="431839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GROQ API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75723" y="472707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Drives AI-powered features — career prediction and smart teammate matching.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4977383" y="431839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977383" y="472707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707FCD-0A31-0C7C-8347-09D98D1823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593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7679" y="3494603"/>
            <a:ext cx="2249146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Login Routing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967679" y="3872522"/>
            <a:ext cx="2249146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Role-based checks on every load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61081" y="2254273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Students List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40778" y="2632191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all students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59204" y="5183466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Profile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38901" y="5561385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Individual student page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2116" y="1678896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31813" y="2056814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Overview after login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47247" y="5654229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Battle Mode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126944" y="6032148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Compare student data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89381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Authentication state is read from localStorage on every page load. Unauthorized roles are redirected immediately — enforcing access control without a server.</a:t>
            </a:r>
            <a:endParaRPr lang="en-US" sz="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DC4907-A71C-E9FB-F37B-C67A29089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81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&amp; Profile Features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3125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Management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15543"/>
            <a:ext cx="5203794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Add / Edit 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students with client-side form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Search Student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Admin and Client Authentication 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b="1" dirty="0">
              <a:solidFill>
                <a:srgbClr val="2C3249"/>
              </a:solidFill>
              <a:latin typeface="Martel Sans Bold" pitchFamily="34" charset="0"/>
              <a:ea typeface="Martel Sans Bold" pitchFamily="34" charset="-122"/>
              <a:cs typeface="Martel Sans Bold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4782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Rich Profile View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934446"/>
            <a:ext cx="5203794" cy="2508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🪪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Exportable Profile PDF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shareable student summary</a:t>
            </a:r>
            <a:endParaRPr lang="en-US" sz="145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EE73734-5E8B-0887-12AF-176D028933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63970" cy="286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A2ACDD-533F-2FE7-BAFD-6BBC83511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646" y="717430"/>
            <a:ext cx="5591175" cy="6191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DF116B-9DC2-5A86-7A0A-C83A68980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484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Home 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56682" y="1314748"/>
            <a:ext cx="60072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i="1" dirty="0">
                <a:solidFill>
                  <a:srgbClr val="030303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Laptop View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7690"/>
            <a:ext cx="5397663" cy="247501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r="2730"/>
          <a:stretch>
            <a:fillRect/>
          </a:stretch>
        </p:blipFill>
        <p:spPr>
          <a:xfrm>
            <a:off x="661476" y="4292997"/>
            <a:ext cx="5250324" cy="15543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5987653"/>
            <a:ext cx="60072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35336" y="1314748"/>
            <a:ext cx="318851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i="1" dirty="0">
                <a:solidFill>
                  <a:srgbClr val="030303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                          Mobile View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128" y="1677690"/>
            <a:ext cx="2431592" cy="39058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00047" y="1314748"/>
            <a:ext cx="275225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47" y="1677690"/>
            <a:ext cx="1911104" cy="258197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EEBCA7-F031-58A4-B999-097E1747CE72}"/>
              </a:ext>
            </a:extLst>
          </p:cNvPr>
          <p:cNvCxnSpPr/>
          <p:nvPr/>
        </p:nvCxnSpPr>
        <p:spPr>
          <a:xfrm>
            <a:off x="6260841" y="1314748"/>
            <a:ext cx="0" cy="453261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D37B9A1-B893-F4AF-03FB-DDE6E391F7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9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Responsive Home Page — Desktop &amp; Mobile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854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landing page (</a:t>
            </a: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"Manage Every Student. Smarter."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) is fully responsive — built with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Flexbox, CSS Grid, and media queries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zero frameworks.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35015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Desktop 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619302"/>
            <a:ext cx="5770220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 nav bar: Home, Manage, Battle, Report &amp; more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How-It-Works strip: Add Students → Compare &amp; Analyze → Track Progress → Top Performers → Export &amp; Share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3077" y="2946003"/>
            <a:ext cx="4909519" cy="2752130"/>
          </a:xfrm>
          <a:prstGeom prst="roundRect">
            <a:avLst>
              <a:gd name="adj" fmla="val 4945"/>
            </a:avLst>
          </a:prstGeom>
          <a:solidFill>
            <a:srgbClr val="1665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952084" y="3135015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View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952084" y="3619302"/>
            <a:ext cx="4531505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Nav links stack vertically at top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Headline adapts to </a:t>
            </a: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"Compare Student Growth"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Dashboard preview reflows below the fold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Same green-and-white design language — fully adapted to narrow viewports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88CE57-0CDF-FEAC-D4BC-01372BE54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192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SignUp/In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23219"/>
            <a:ext cx="5203794" cy="29692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2423219"/>
            <a:ext cx="5203794" cy="29801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D657A7-8994-91AA-5F14-EC56A2B76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528" y="25945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Code Walkthrough — Sign Up &amp; Validation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007374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Sign Up Form Fields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217017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364853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61475" y="1437481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 Name, Email, Username, Phone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1668959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1475" y="1816795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7"/>
          <p:cNvSpPr/>
          <p:nvPr/>
        </p:nvSpPr>
        <p:spPr>
          <a:xfrm>
            <a:off x="661475" y="1889423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Password + Confirm Password (strength-checked)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1475" y="2120900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1475" y="2268736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661475" y="2341364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 selection — </a:t>
            </a: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Admin</a:t>
            </a: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or </a:t>
            </a: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Viewer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475" y="2572841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2720677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5" name="Text 13"/>
          <p:cNvSpPr/>
          <p:nvPr/>
        </p:nvSpPr>
        <p:spPr>
          <a:xfrm>
            <a:off x="661475" y="2793305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Terms &amp; Conditions checkbox — required to submit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3024783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3172619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1" name="Shape 19"/>
          <p:cNvSpPr/>
          <p:nvPr/>
        </p:nvSpPr>
        <p:spPr>
          <a:xfrm>
            <a:off x="661475" y="6004719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6075561"/>
            <a:ext cx="118067" cy="94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8450" y="607556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backend required — client-side validation + localStorage replaces a traditional auth server entirely.</a:t>
            </a:r>
            <a:endParaRPr lang="en-US" sz="105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F44B1E5D-AE0A-F70D-C33B-C5067DD94AC0}"/>
              </a:ext>
            </a:extLst>
          </p:cNvPr>
          <p:cNvSpPr/>
          <p:nvPr/>
        </p:nvSpPr>
        <p:spPr>
          <a:xfrm>
            <a:off x="655529" y="1217017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DA1E3BB-EE6D-788E-6E44-7329C5E971B6}"/>
              </a:ext>
            </a:extLst>
          </p:cNvPr>
          <p:cNvSpPr/>
          <p:nvPr/>
        </p:nvSpPr>
        <p:spPr>
          <a:xfrm>
            <a:off x="655529" y="1364853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8162A27-0729-B30D-B444-29469C3C91BF}"/>
              </a:ext>
            </a:extLst>
          </p:cNvPr>
          <p:cNvSpPr/>
          <p:nvPr/>
        </p:nvSpPr>
        <p:spPr>
          <a:xfrm>
            <a:off x="655529" y="1668959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E24129ED-6597-966E-5C2A-BEFBA712D1E6}"/>
              </a:ext>
            </a:extLst>
          </p:cNvPr>
          <p:cNvSpPr/>
          <p:nvPr/>
        </p:nvSpPr>
        <p:spPr>
          <a:xfrm>
            <a:off x="655529" y="1816795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E72E16BF-F644-D9D5-7F39-0AEF9E0E7224}"/>
              </a:ext>
            </a:extLst>
          </p:cNvPr>
          <p:cNvSpPr/>
          <p:nvPr/>
        </p:nvSpPr>
        <p:spPr>
          <a:xfrm>
            <a:off x="655529" y="2120900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4A52AB02-5A5C-40A3-EAB8-3D9AFF6C4D80}"/>
              </a:ext>
            </a:extLst>
          </p:cNvPr>
          <p:cNvSpPr/>
          <p:nvPr/>
        </p:nvSpPr>
        <p:spPr>
          <a:xfrm>
            <a:off x="655529" y="2268736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3E8AF88A-E4F9-418A-902D-B0D55B889DE7}"/>
              </a:ext>
            </a:extLst>
          </p:cNvPr>
          <p:cNvSpPr/>
          <p:nvPr/>
        </p:nvSpPr>
        <p:spPr>
          <a:xfrm>
            <a:off x="655529" y="2572841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BB5014CB-CD61-D38B-B7DA-2CD77ED2E532}"/>
              </a:ext>
            </a:extLst>
          </p:cNvPr>
          <p:cNvSpPr/>
          <p:nvPr/>
        </p:nvSpPr>
        <p:spPr>
          <a:xfrm>
            <a:off x="655529" y="2720677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BD7A7B6-1EDC-8B63-AC56-6C39DF7FDC2D}"/>
              </a:ext>
            </a:extLst>
          </p:cNvPr>
          <p:cNvSpPr/>
          <p:nvPr/>
        </p:nvSpPr>
        <p:spPr>
          <a:xfrm>
            <a:off x="655529" y="3024783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A0AB1798-464E-C72B-9F98-CB3DCF52ECAA}"/>
              </a:ext>
            </a:extLst>
          </p:cNvPr>
          <p:cNvSpPr/>
          <p:nvPr/>
        </p:nvSpPr>
        <p:spPr>
          <a:xfrm>
            <a:off x="655529" y="3172619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59054B11-3118-A06A-A69A-098648C297A2}"/>
              </a:ext>
            </a:extLst>
          </p:cNvPr>
          <p:cNvSpPr/>
          <p:nvPr/>
        </p:nvSpPr>
        <p:spPr>
          <a:xfrm>
            <a:off x="655529" y="3309329"/>
            <a:ext cx="4764068" cy="53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 success: user object saved to </a:t>
            </a: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as JSON → redirect to sign-in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0B88F16F-5453-8323-6AA3-5A5BB13244F3}"/>
              </a:ext>
            </a:extLst>
          </p:cNvPr>
          <p:cNvSpPr/>
          <p:nvPr/>
        </p:nvSpPr>
        <p:spPr>
          <a:xfrm>
            <a:off x="6089900" y="915988"/>
            <a:ext cx="5647192" cy="4687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47900C24-B36B-58D4-E68C-0C02A56F817A}"/>
              </a:ext>
            </a:extLst>
          </p:cNvPr>
          <p:cNvSpPr/>
          <p:nvPr/>
        </p:nvSpPr>
        <p:spPr>
          <a:xfrm>
            <a:off x="655529" y="6004719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FDB6FDE3-AD75-EF96-0C8A-22C82F409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83" y="6075561"/>
            <a:ext cx="118067" cy="94456"/>
          </a:xfrm>
          <a:prstGeom prst="rect">
            <a:avLst/>
          </a:prstGeom>
        </p:spPr>
      </p:pic>
      <p:sp>
        <p:nvSpPr>
          <p:cNvPr id="45" name="Text 20">
            <a:extLst>
              <a:ext uri="{FF2B5EF4-FFF2-40B4-BE49-F238E27FC236}">
                <a16:creationId xmlns:a16="http://schemas.microsoft.com/office/drawing/2014/main" id="{B0BE19C7-F9F5-AC2E-15F3-FFE7D154AC32}"/>
              </a:ext>
            </a:extLst>
          </p:cNvPr>
          <p:cNvSpPr/>
          <p:nvPr/>
        </p:nvSpPr>
        <p:spPr>
          <a:xfrm>
            <a:off x="962504" y="607556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backend required — client-side validation + localStorage replaces a traditional auth server entirely.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66492C-4C9B-E774-932F-9C6167668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780" y="681491"/>
            <a:ext cx="5130894" cy="526284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37EF7D4-117C-8980-02F8-7538A623C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91350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Standout Features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87624"/>
            <a:ext cx="6296860" cy="19838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96451" y="19294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75881" y="2543572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Career Path Predictor</a:t>
            </a:r>
            <a:endParaRPr lang="en-US" sz="1850" b="1" dirty="0"/>
          </a:p>
        </p:txBody>
      </p:sp>
      <p:sp>
        <p:nvSpPr>
          <p:cNvPr id="7" name="Text 3"/>
          <p:cNvSpPr/>
          <p:nvPr/>
        </p:nvSpPr>
        <p:spPr>
          <a:xfrm>
            <a:off x="875881" y="2952254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GROQ AI reads a student's full profile and recommends career roles plus personalized skill gap analysis.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60515"/>
            <a:ext cx="6296860" cy="19838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96451" y="410229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75881" y="4716463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Battle Mode </a:t>
            </a:r>
            <a:endParaRPr lang="en-US" sz="1850" b="1" dirty="0"/>
          </a:p>
        </p:txBody>
      </p:sp>
      <p:sp>
        <p:nvSpPr>
          <p:cNvPr id="11" name="Text 6"/>
          <p:cNvSpPr/>
          <p:nvPr/>
        </p:nvSpPr>
        <p:spPr>
          <a:xfrm>
            <a:off x="875881" y="5125145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/>
              <a:t>Compete with your friends and collegemates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1F0CA3-6102-6B6A-7139-519AF089E7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35" t="2162" r="13325"/>
          <a:stretch>
            <a:fillRect/>
          </a:stretch>
        </p:blipFill>
        <p:spPr>
          <a:xfrm>
            <a:off x="8005432" y="217722"/>
            <a:ext cx="3546942" cy="21542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88B5EC-4D33-1CE7-CA9A-E51721517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741" y="2543572"/>
            <a:ext cx="4982706" cy="3984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F7BEA8-EC5C-10B5-0F8B-507BC2C39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664468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Improvisations</a:t>
            </a:r>
            <a:endParaRPr lang="en-US" sz="2600" b="1" dirty="0">
              <a:solidFill>
                <a:srgbClr val="008200"/>
              </a:solidFill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19895"/>
            <a:ext cx="6296860" cy="13091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30135" y="1319510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13375" y="1751409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Filter &amp; Sort</a:t>
            </a:r>
            <a:endParaRPr lang="en-US" sz="1300" b="1" dirty="0"/>
          </a:p>
        </p:txBody>
      </p:sp>
      <p:sp>
        <p:nvSpPr>
          <p:cNvPr id="7" name="Text 3"/>
          <p:cNvSpPr/>
          <p:nvPr/>
        </p:nvSpPr>
        <p:spPr>
          <a:xfrm>
            <a:off x="813375" y="2015034"/>
            <a:ext cx="5993059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Multi-field filtering — combine branch + CGPA + semester together, with saved filter presets for quick reuse.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22451"/>
            <a:ext cx="6296860" cy="11281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30135" y="2722066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813375" y="3153966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Smarter CSV Import</a:t>
            </a:r>
            <a:endParaRPr lang="en-US" sz="1300" b="1" dirty="0"/>
          </a:p>
        </p:txBody>
      </p:sp>
      <p:sp>
        <p:nvSpPr>
          <p:cNvPr id="11" name="Text 6"/>
          <p:cNvSpPr/>
          <p:nvPr/>
        </p:nvSpPr>
        <p:spPr>
          <a:xfrm>
            <a:off x="813375" y="3417590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Schema validation, duplicate detection, and an error preview before committing bulk data.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43933"/>
            <a:ext cx="6296860" cy="11281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30135" y="3943548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13375" y="4375448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Semester Wrapped</a:t>
            </a:r>
            <a:endParaRPr lang="en-US" sz="1300" b="1" dirty="0"/>
          </a:p>
        </p:txBody>
      </p:sp>
      <p:sp>
        <p:nvSpPr>
          <p:cNvPr id="15" name="Text 9"/>
          <p:cNvSpPr/>
          <p:nvPr/>
        </p:nvSpPr>
        <p:spPr>
          <a:xfrm>
            <a:off x="813375" y="4639072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Shareable social-card export plus year-over-year comparison to track growth across semesters.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65415"/>
            <a:ext cx="6296860" cy="11281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0135" y="5165030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13375" y="5596930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Battle Mode 2.0</a:t>
            </a:r>
            <a:endParaRPr lang="en-US" sz="1300" b="1" dirty="0"/>
          </a:p>
        </p:txBody>
      </p:sp>
      <p:sp>
        <p:nvSpPr>
          <p:cNvPr id="19" name="Text 12"/>
          <p:cNvSpPr/>
          <p:nvPr/>
        </p:nvSpPr>
        <p:spPr>
          <a:xfrm>
            <a:off x="813375" y="5860554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Group battles (3+ students at once) with leaderboard integration for class-wide comparisons.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5D82B7-6556-64EE-4F47-DF697B456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sp>
        <p:nvSpPr>
          <p:cNvPr id="21" name="AutoShape 2">
            <a:extLst>
              <a:ext uri="{FF2B5EF4-FFF2-40B4-BE49-F238E27FC236}">
                <a16:creationId xmlns:a16="http://schemas.microsoft.com/office/drawing/2014/main" id="{A182B1E9-200F-E5BB-D93B-9DC9BDAD78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D13DE4-2454-8AA0-9074-DBE79FBB31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852" y="666601"/>
            <a:ext cx="3565773" cy="23771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F15FEB-CBE9-E7DC-46A1-5366C5E75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5916" y="3361532"/>
            <a:ext cx="4072683" cy="27151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Role-Based Access &amp; Data Persistence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4707" y="2449669"/>
            <a:ext cx="5315513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localStorage as a Database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14707" y="2900575"/>
            <a:ext cx="5233954" cy="607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student records are serialized with </a:t>
            </a:r>
            <a:r>
              <a:rPr lang="en-US" sz="12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restored with </a:t>
            </a:r>
            <a:r>
              <a:rPr lang="en-US" sz="12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</a:t>
            </a: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Data survives page refreshes, tab closures, and browser restarts — no server, no sync required.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21058" y="3741241"/>
            <a:ext cx="5507522" cy="633329"/>
          </a:xfrm>
          <a:prstGeom prst="roundRect">
            <a:avLst>
              <a:gd name="adj" fmla="val 15929"/>
            </a:avLst>
          </a:prstGeom>
          <a:solidFill>
            <a:srgbClr val="008200"/>
          </a:solidFill>
          <a:ln>
            <a:solidFill>
              <a:srgbClr val="008200"/>
            </a:solidFill>
          </a:ln>
        </p:spPr>
        <p:txBody>
          <a:bodyPr/>
          <a:lstStyle/>
          <a:p>
            <a:endParaRPr lang="en-IN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815755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8309" y="3810694"/>
            <a:ext cx="521191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 enforcement runs on every page load — there is no unprotected route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 Nodus.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2F1F-7813-EA2A-15B1-07F28C2B4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17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Challenges &amp; Learnings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7044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2365" y="25058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2535337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Simulating Auth Without a Backend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239294"/>
            <a:ext cx="285117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Implementing login flow and session management purely via localStorage required careful state design to prevent spoofing and unauthorized access.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3135" y="247044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34025" y="25058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7383" y="2535337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Cross-Page State Consistency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77383" y="3239294"/>
            <a:ext cx="285117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Keeping student data consistent across five separate HTML pages — without a framework's global store — demanded a disciplined read/write contract with localStorage.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4794" y="247044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35684" y="25058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79042" y="253533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Client-Side Data Integrity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79042" y="2944019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Validating, structuring, and sanitizing data without any server-side layer meant building robust validation logic entirely in vanilla JS.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D708ED-ABF0-73EC-9670-608C3DA2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5147" y="27924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8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“Thank You”</a:t>
            </a:r>
            <a:endParaRPr lang="en-US" sz="8800" b="1" dirty="0">
              <a:solidFill>
                <a:srgbClr val="0082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924527" y="4054326"/>
            <a:ext cx="90730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-Team Nodus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6832" y="282019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228876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3466" y="621340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GitHub Repository</a:t>
            </a:r>
            <a:endParaRPr lang="en-US" sz="1200" b="1" dirty="0">
              <a:solidFill>
                <a:srgbClr val="0082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833140" y="598200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>
              <a:lnSpc>
                <a:spcPct val="133000"/>
              </a:lnSpc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6832" y="471586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12454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2FDC12-AB99-E569-3FF7-2FC96900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72" y="4552506"/>
            <a:ext cx="1609725" cy="1609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CF2275-735C-A923-C327-49E06A719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3706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844</Words>
  <Application>Microsoft Office PowerPoint</Application>
  <PresentationFormat>Widescreen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Consolas</vt:lpstr>
      <vt:lpstr>Arial</vt:lpstr>
      <vt:lpstr>Kanit Light</vt:lpstr>
      <vt:lpstr>Martel Sans</vt:lpstr>
      <vt:lpstr>Martel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Pashvinder</dc:creator>
  <cp:lastModifiedBy>Pashvinder Dhiman</cp:lastModifiedBy>
  <cp:revision>6</cp:revision>
  <dcterms:created xsi:type="dcterms:W3CDTF">2026-08-23T10:20:18Z</dcterms:created>
  <dcterms:modified xsi:type="dcterms:W3CDTF">2026-08-23T15:58:26Z</dcterms:modified>
</cp:coreProperties>
</file>