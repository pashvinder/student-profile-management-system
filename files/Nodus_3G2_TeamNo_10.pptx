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embeddedFontLst>
    <p:embeddedFont>
      <p:font typeface="Consolas" panose="020B0609020204030204" pitchFamily="49" charset="0"/>
      <p:regular r:id="rId18"/>
      <p:bold r:id="rId19"/>
      <p:italic r:id="rId20"/>
      <p:boldItalic r:id="rId21"/>
    </p:embeddedFont>
    <p:embeddedFont>
      <p:font typeface="Kanit Light" panose="020B0604020202020204" charset="-34"/>
      <p:regular r:id="rId22"/>
    </p:embeddedFont>
    <p:embeddedFont>
      <p:font typeface="Martel Sans" panose="020B0604020202020204" charset="0"/>
      <p:regular r:id="rId23"/>
    </p:embeddedFont>
    <p:embeddedFont>
      <p:font typeface="Martel Sans Bold" panose="020B0604020202020204" charset="0"/>
      <p:regular r:id="rId2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990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35769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blipFill dpi="0" rotWithShape="1">
          <a:blip r:embed="rId2">
            <a:alphaModFix amt="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4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19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7" Type="http://schemas.openxmlformats.org/officeDocument/2006/relationships/image" Target="../media/image28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5" Type="http://schemas.openxmlformats.org/officeDocument/2006/relationships/image" Target="../media/image7.jpeg"/><Relationship Id="rId4" Type="http://schemas.openxmlformats.org/officeDocument/2006/relationships/image" Target="../media/image26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>
          <a:blip r:embed="rId3">
            <a:alphaModFix amt="0"/>
          </a:blip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2947570" y="691178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6000" b="1" dirty="0">
                <a:solidFill>
                  <a:srgbClr val="008200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Nodus</a:t>
            </a:r>
            <a:endParaRPr lang="en-US" sz="6000" b="1" dirty="0">
              <a:solidFill>
                <a:srgbClr val="008200"/>
              </a:solidFill>
            </a:endParaRPr>
          </a:p>
        </p:txBody>
      </p:sp>
      <p:sp>
        <p:nvSpPr>
          <p:cNvPr id="5" name="Text 1"/>
          <p:cNvSpPr/>
          <p:nvPr/>
        </p:nvSpPr>
        <p:spPr>
          <a:xfrm>
            <a:off x="3050992" y="1710441"/>
            <a:ext cx="629686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008200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Student Profile Management System</a:t>
            </a:r>
            <a:endParaRPr lang="en-US" sz="1850" dirty="0">
              <a:solidFill>
                <a:srgbClr val="008200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3050992" y="2071688"/>
            <a:ext cx="6296860" cy="817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33000"/>
              </a:lnSpc>
              <a:spcAft>
                <a:spcPts val="1650"/>
              </a:spcAft>
            </a:pPr>
            <a:r>
              <a:rPr lang="en-US" sz="1450" dirty="0">
                <a:solidFill>
                  <a:srgbClr val="0082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Frontend Engineering II (25CSE020)</a:t>
            </a:r>
            <a:endParaRPr lang="en-US" sz="1450" dirty="0">
              <a:solidFill>
                <a:srgbClr val="008200"/>
              </a:solidFill>
            </a:endParaRPr>
          </a:p>
        </p:txBody>
      </p:sp>
      <p:sp>
        <p:nvSpPr>
          <p:cNvPr id="7" name="Text 3"/>
          <p:cNvSpPr/>
          <p:nvPr/>
        </p:nvSpPr>
        <p:spPr>
          <a:xfrm>
            <a:off x="1528250" y="3542848"/>
            <a:ext cx="6296860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Presented By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: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-Pashvinder(Team Leader)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-Anushka Sahrawat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-Kartavya Garg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-Kartik</a:t>
            </a:r>
            <a:endParaRPr lang="en-US" sz="1450" dirty="0"/>
          </a:p>
        </p:txBody>
      </p:sp>
      <p:sp>
        <p:nvSpPr>
          <p:cNvPr id="8" name="Text 4"/>
          <p:cNvSpPr/>
          <p:nvPr/>
        </p:nvSpPr>
        <p:spPr>
          <a:xfrm>
            <a:off x="661475" y="5484416"/>
            <a:ext cx="6296860" cy="817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endParaRPr lang="en-US" sz="14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C260234-828C-9AB5-C0A2-35CD50539F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365" t="16973"/>
          <a:stretch>
            <a:fillRect/>
          </a:stretch>
        </p:blipFill>
        <p:spPr>
          <a:xfrm>
            <a:off x="4934309" y="2864664"/>
            <a:ext cx="6915393" cy="330215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241BAF-E3FD-84B7-34CB-AB93A1EEAD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063" y="319703"/>
            <a:ext cx="1119188" cy="3714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611684"/>
            <a:ext cx="6296860" cy="110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The Problem with Student Data Tools</a:t>
            </a:r>
            <a:endParaRPr lang="en-US" sz="3450" dirty="0"/>
          </a:p>
        </p:txBody>
      </p:sp>
      <p:sp>
        <p:nvSpPr>
          <p:cNvPr id="4" name="Text 1"/>
          <p:cNvSpPr/>
          <p:nvPr/>
        </p:nvSpPr>
        <p:spPr>
          <a:xfrm>
            <a:off x="661475" y="2117725"/>
            <a:ext cx="2932337" cy="1647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Most student data platforms are </a:t>
            </a:r>
            <a:r>
              <a:rPr lang="en-US" sz="13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dry, form-heavy CRUD systems</a:t>
            </a: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— built to store data, not to tell a story. Colleges lack a unified, engaging way to view, manage, and explore student journeys.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4298148" y="2304554"/>
            <a:ext cx="2666536" cy="823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Colleges deserve more than a spreadsheet with a login screen.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4032348" y="2155130"/>
            <a:ext cx="19050" cy="1122759"/>
          </a:xfrm>
          <a:prstGeom prst="roundRect">
            <a:avLst>
              <a:gd name="adj" fmla="val 49999"/>
            </a:avLst>
          </a:prstGeom>
          <a:solidFill>
            <a:srgbClr val="43706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101802"/>
            <a:ext cx="1988195" cy="214451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33923" y="4298057"/>
            <a:ext cx="1519497" cy="553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Fragmented Data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933923" y="4951512"/>
            <a:ext cx="1519497" cy="1098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No single view connects academics, skills, and milestones.</a:t>
            </a:r>
            <a:endParaRPr lang="en-US" sz="13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15758" y="4101802"/>
            <a:ext cx="1988195" cy="214451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088206" y="4298057"/>
            <a:ext cx="1519497" cy="553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Zero Engagement</a:t>
            </a:r>
            <a:endParaRPr lang="en-US" sz="1700" dirty="0"/>
          </a:p>
        </p:txBody>
      </p:sp>
      <p:sp>
        <p:nvSpPr>
          <p:cNvPr id="12" name="Text 7"/>
          <p:cNvSpPr/>
          <p:nvPr/>
        </p:nvSpPr>
        <p:spPr>
          <a:xfrm>
            <a:off x="3088206" y="4951512"/>
            <a:ext cx="1519497" cy="1098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Static tables don't motivate students or faculty.</a:t>
            </a:r>
            <a:endParaRPr lang="en-US" sz="13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70041" y="4101802"/>
            <a:ext cx="1988294" cy="214451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242488" y="4298057"/>
            <a:ext cx="1519596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No Insight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5242488" y="4674592"/>
            <a:ext cx="1519596" cy="1098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Raw records don't surface trends or career signals.</a:t>
            </a:r>
            <a:endParaRPr lang="en-US" sz="1350" dirty="0"/>
          </a:p>
        </p:txBody>
      </p:sp>
      <p:sp>
        <p:nvSpPr>
          <p:cNvPr id="17" name="AutoShape 2">
            <a:extLst>
              <a:ext uri="{FF2B5EF4-FFF2-40B4-BE49-F238E27FC236}">
                <a16:creationId xmlns:a16="http://schemas.microsoft.com/office/drawing/2014/main" id="{5EEAF11B-1CCD-C536-9D84-985295CF85C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1315712-7349-FEB9-9822-20F9C36EE6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3134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Introducing Nodus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500015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 student data platform that </a:t>
            </a: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actually feels like a product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— intuitive, visual, and purpose-built for the modern campus.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3015059"/>
            <a:ext cx="3496877" cy="2311499"/>
          </a:xfrm>
          <a:prstGeom prst="roundRect">
            <a:avLst>
              <a:gd name="adj" fmla="val 3434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856832" y="3210421"/>
            <a:ext cx="310616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Frontend-Only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856832" y="3619103"/>
            <a:ext cx="310616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Built entirely with HTML, CSS, and vanilla JavaScript — no backend required, fully self-contained.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47359" y="3015059"/>
            <a:ext cx="3496877" cy="2311499"/>
          </a:xfrm>
          <a:prstGeom prst="roundRect">
            <a:avLst>
              <a:gd name="adj" fmla="val 3434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42716" y="3210421"/>
            <a:ext cx="310616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localStorage Persistence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4542716" y="3619103"/>
            <a:ext cx="310616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All student data lives in the browser via localStorage, surviving refreshes and restarts with zero server dependency.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33244" y="3015059"/>
            <a:ext cx="3496877" cy="2311499"/>
          </a:xfrm>
          <a:prstGeom prst="roundRect">
            <a:avLst>
              <a:gd name="adj" fmla="val 3434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8228600" y="3210421"/>
            <a:ext cx="310616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Right-Scoped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8228600" y="3619103"/>
            <a:ext cx="3106164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 frontend-only approach is the ideal scope for this assessment — demonstrating mastery of DOM, state, and UX without backend complexity.</a:t>
            </a:r>
            <a:endParaRPr lang="en-US" sz="14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BB746E5-20A2-716D-DD19-4B331D9BE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5" y="59980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2356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Tech Stack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192238"/>
            <a:ext cx="378014" cy="37802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75723" y="225712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HTML5 &amp; CSS3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1275723" y="2665809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Semantic markup and modern styling form the structural and visual foundation.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3135" y="2192238"/>
            <a:ext cx="378014" cy="37802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977383" y="225712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Vanilla JavaScript ES6+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977383" y="2665809"/>
            <a:ext cx="2851178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Modules, arrow functions, destructuring — modern JS without any framework overhead.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794" y="2192238"/>
            <a:ext cx="378014" cy="37802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79042" y="225712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localStorage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679042" y="2665809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JSON.stringify / JSON.parse power a lightweight, browser-native data persistence layer.</a:t>
            </a:r>
            <a:endParaRPr lang="en-US" sz="14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4253508"/>
            <a:ext cx="378014" cy="37802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75723" y="431839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GROQ API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1275723" y="4727079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Drives AI-powered features — career prediction and smart teammate matching.</a:t>
            </a:r>
            <a:endParaRPr lang="en-US" sz="1450" dirty="0"/>
          </a:p>
        </p:txBody>
      </p:sp>
      <p:sp>
        <p:nvSpPr>
          <p:cNvPr id="16" name="Text 9"/>
          <p:cNvSpPr/>
          <p:nvPr/>
        </p:nvSpPr>
        <p:spPr>
          <a:xfrm>
            <a:off x="4977383" y="431839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1850" dirty="0"/>
          </a:p>
        </p:txBody>
      </p:sp>
      <p:sp>
        <p:nvSpPr>
          <p:cNvPr id="17" name="Text 10"/>
          <p:cNvSpPr/>
          <p:nvPr/>
        </p:nvSpPr>
        <p:spPr>
          <a:xfrm>
            <a:off x="4977383" y="4727079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3707FCD-0A31-0C7C-8347-09D98D1823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System Architecture</a:t>
            </a:r>
            <a:endParaRPr lang="en-US" sz="18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909538"/>
            <a:ext cx="10868745" cy="593119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67679" y="3494603"/>
            <a:ext cx="2249146" cy="29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Login Routing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4967679" y="3872522"/>
            <a:ext cx="2249146" cy="353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Role-based checks on every load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8561081" y="2254273"/>
            <a:ext cx="2353757" cy="29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Students List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440778" y="2632191"/>
            <a:ext cx="2594363" cy="176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View all students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259204" y="5183466"/>
            <a:ext cx="2353757" cy="29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Student Profile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1138901" y="5561385"/>
            <a:ext cx="2594363" cy="176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Individual student page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552116" y="1678896"/>
            <a:ext cx="2353757" cy="29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Dashboard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1431813" y="2056814"/>
            <a:ext cx="2594363" cy="176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Overview after login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247247" y="5654229"/>
            <a:ext cx="2353757" cy="29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Battle Mode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8126944" y="6032148"/>
            <a:ext cx="2594363" cy="176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Compare student data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61475" y="6893818"/>
            <a:ext cx="11478330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Authentication state is read from localStorage on every page load. Unauthorized roles are redirected immediately — enforcing access control without a server.</a:t>
            </a:r>
            <a:endParaRPr lang="en-US" sz="7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0DC4907-A71C-E9FB-F37B-C67A29089D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36812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Core &amp; Profile Features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431256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Student Management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661475" y="2915543"/>
            <a:ext cx="5203794" cy="1710333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Add / Edit 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students with client-side form validation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Search Student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Admin and Client Authentication 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endParaRPr lang="en-US" sz="1450" b="1" dirty="0">
              <a:solidFill>
                <a:srgbClr val="2C3249"/>
              </a:solidFill>
              <a:latin typeface="Martel Sans Bold" pitchFamily="34" charset="0"/>
              <a:ea typeface="Martel Sans Bold" pitchFamily="34" charset="-122"/>
              <a:cs typeface="Martel Sans Bold" pitchFamily="34" charset="-120"/>
            </a:endParaRPr>
          </a:p>
          <a:p>
            <a:pPr algn="l">
              <a:lnSpc>
                <a:spcPct val="133000"/>
              </a:lnSpc>
              <a:buSzPct val="100000"/>
            </a:pP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61475" y="4478238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Rich Profile View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661475" y="4934446"/>
            <a:ext cx="5203794" cy="2508250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🪪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</a:t>
            </a: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Exportable Profile PDF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— shareable student summary</a:t>
            </a:r>
            <a:endParaRPr lang="en-US" sz="1450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6EE73734-5E8B-0887-12AF-176D028933E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2863970" cy="2863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8A2ACDD-533F-2FE7-BAFD-6BBC83511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0646" y="717430"/>
            <a:ext cx="5591175" cy="61912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7DF116B-9DC2-5A86-7A0A-C83A68980E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5484"/>
            <a:ext cx="10868745" cy="479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Home Page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56682" y="1314748"/>
            <a:ext cx="6007247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200" i="1" dirty="0">
                <a:solidFill>
                  <a:srgbClr val="030303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Laptop View</a:t>
            </a:r>
            <a:endParaRPr lang="en-US" sz="1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677690"/>
            <a:ext cx="5397663" cy="2475012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r="2730"/>
          <a:stretch>
            <a:fillRect/>
          </a:stretch>
        </p:blipFill>
        <p:spPr>
          <a:xfrm>
            <a:off x="661476" y="4292997"/>
            <a:ext cx="5250324" cy="155436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61475" y="5987653"/>
            <a:ext cx="6007247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6135336" y="1314748"/>
            <a:ext cx="3188513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200" i="1" dirty="0">
                <a:solidFill>
                  <a:srgbClr val="030303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                          Mobile View</a:t>
            </a:r>
            <a:endParaRPr lang="en-US" sz="12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0128" y="1677690"/>
            <a:ext cx="2431592" cy="390584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400047" y="1314748"/>
            <a:ext cx="2752259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endParaRPr lang="en-US" sz="12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0047" y="1677690"/>
            <a:ext cx="1911104" cy="258197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3EEBCA7-F031-58A4-B999-097E1747CE72}"/>
              </a:ext>
            </a:extLst>
          </p:cNvPr>
          <p:cNvCxnSpPr/>
          <p:nvPr/>
        </p:nvCxnSpPr>
        <p:spPr>
          <a:xfrm>
            <a:off x="6260841" y="1314748"/>
            <a:ext cx="0" cy="453261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1D37B9A1-B893-F4AF-03FB-DDE6E391F7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15986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Responsive Home Page — Desktop &amp; Mobile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128540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The landing page (</a:t>
            </a:r>
            <a:r>
              <a:rPr lang="en-US" sz="1450" i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"Manage Every Student. Smarter."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) is fully responsive — built with </a:t>
            </a: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Flexbox, CSS Grid, and media queries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, zero frameworks.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61475" y="3135015"/>
            <a:ext cx="577022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Desktop View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661475" y="3619302"/>
            <a:ext cx="5770220" cy="2012752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Full nav bar: Home, Manage, Battle, Report &amp; more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How-It-Works strip: Add Students → Compare &amp; Analyze → Track Progress → Top Performers → Export &amp; Share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763077" y="2946003"/>
            <a:ext cx="4909519" cy="2752130"/>
          </a:xfrm>
          <a:prstGeom prst="roundRect">
            <a:avLst>
              <a:gd name="adj" fmla="val 4945"/>
            </a:avLst>
          </a:prstGeom>
          <a:solidFill>
            <a:srgbClr val="16653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6952084" y="3135015"/>
            <a:ext cx="45315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Mobile View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6952084" y="3619302"/>
            <a:ext cx="4531505" cy="2012752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Nav links stack vertically at top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Headline adapts to </a:t>
            </a:r>
            <a:r>
              <a:rPr lang="en-US" sz="1450" b="1" dirty="0">
                <a:solidFill>
                  <a:srgbClr val="FFFFFF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"Compare Student Growth"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Dashboard preview reflows below the fold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Same green-and-white design language — fully adapted to narrow viewports</a:t>
            </a:r>
            <a:endParaRPr lang="en-US" sz="14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788CE57-0CDF-FEAC-D4BC-01372BE54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41921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SignUp/In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423219"/>
            <a:ext cx="5203794" cy="2969221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2776" y="2423219"/>
            <a:ext cx="5203794" cy="29801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D657A7-8994-91AA-5F14-EC56A2B76E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5528" y="259457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Code Walkthrough — Sign Up &amp; Validation</a:t>
            </a:r>
            <a:endParaRPr lang="en-US" sz="2800" b="1" dirty="0"/>
          </a:p>
        </p:txBody>
      </p:sp>
      <p:sp>
        <p:nvSpPr>
          <p:cNvPr id="3" name="Text 1"/>
          <p:cNvSpPr/>
          <p:nvPr/>
        </p:nvSpPr>
        <p:spPr>
          <a:xfrm>
            <a:off x="661475" y="1007374"/>
            <a:ext cx="4764068" cy="147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Sign Up Form Fields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1475" y="1217017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01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61475" y="1364853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6" name="Text 4"/>
          <p:cNvSpPr/>
          <p:nvPr/>
        </p:nvSpPr>
        <p:spPr>
          <a:xfrm>
            <a:off x="661475" y="1437481"/>
            <a:ext cx="4764068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Full Name, Email, Username, Phone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61475" y="1668959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02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61475" y="1816795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9" name="Text 7"/>
          <p:cNvSpPr/>
          <p:nvPr/>
        </p:nvSpPr>
        <p:spPr>
          <a:xfrm>
            <a:off x="661475" y="1889423"/>
            <a:ext cx="4764068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Password + Confirm Password (strength-checked)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1475" y="2120900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61475" y="2268736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12" name="Text 10"/>
          <p:cNvSpPr/>
          <p:nvPr/>
        </p:nvSpPr>
        <p:spPr>
          <a:xfrm>
            <a:off x="661475" y="2341364"/>
            <a:ext cx="4764068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Role selection — </a:t>
            </a:r>
            <a:r>
              <a:rPr lang="en-US" sz="10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Admin</a:t>
            </a: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or </a:t>
            </a:r>
            <a:r>
              <a:rPr lang="en-US" sz="10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Viewer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1475" y="2572841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04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61475" y="2720677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15" name="Text 13"/>
          <p:cNvSpPr/>
          <p:nvPr/>
        </p:nvSpPr>
        <p:spPr>
          <a:xfrm>
            <a:off x="661475" y="2793305"/>
            <a:ext cx="4764068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Terms &amp; Conditions checkbox — required to submit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61475" y="3024783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05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61475" y="3172619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21" name="Shape 19"/>
          <p:cNvSpPr/>
          <p:nvPr/>
        </p:nvSpPr>
        <p:spPr>
          <a:xfrm>
            <a:off x="661475" y="6004719"/>
            <a:ext cx="10868745" cy="250329"/>
          </a:xfrm>
          <a:prstGeom prst="roundRect">
            <a:avLst>
              <a:gd name="adj" fmla="val 15857"/>
            </a:avLst>
          </a:prstGeom>
          <a:solidFill>
            <a:srgbClr val="DFECE9"/>
          </a:solidFill>
          <a:ln/>
        </p:spPr>
        <p:txBody>
          <a:bodyPr/>
          <a:lstStyle/>
          <a:p>
            <a:endParaRPr lang="en-IN" sz="105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929" y="6075561"/>
            <a:ext cx="118067" cy="94456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968450" y="6075561"/>
            <a:ext cx="11076901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No backend required — client-side validation + localStorage replaces a traditional auth server entirely.</a:t>
            </a:r>
            <a:endParaRPr lang="en-US" sz="1050" dirty="0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F44B1E5D-AE0A-F70D-C33B-C5067DD94AC0}"/>
              </a:ext>
            </a:extLst>
          </p:cNvPr>
          <p:cNvSpPr/>
          <p:nvPr/>
        </p:nvSpPr>
        <p:spPr>
          <a:xfrm>
            <a:off x="655529" y="1217017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01</a:t>
            </a:r>
            <a:endParaRPr lang="en-US" sz="1050" dirty="0"/>
          </a:p>
        </p:txBody>
      </p:sp>
      <p:sp>
        <p:nvSpPr>
          <p:cNvPr id="27" name="Shape 3">
            <a:extLst>
              <a:ext uri="{FF2B5EF4-FFF2-40B4-BE49-F238E27FC236}">
                <a16:creationId xmlns:a16="http://schemas.microsoft.com/office/drawing/2014/main" id="{EDA1E3BB-EE6D-788E-6E44-7329C5E971B6}"/>
              </a:ext>
            </a:extLst>
          </p:cNvPr>
          <p:cNvSpPr/>
          <p:nvPr/>
        </p:nvSpPr>
        <p:spPr>
          <a:xfrm>
            <a:off x="655529" y="1364853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29" name="Text 5">
            <a:extLst>
              <a:ext uri="{FF2B5EF4-FFF2-40B4-BE49-F238E27FC236}">
                <a16:creationId xmlns:a16="http://schemas.microsoft.com/office/drawing/2014/main" id="{48162A27-0729-B30D-B444-29469C3C91BF}"/>
              </a:ext>
            </a:extLst>
          </p:cNvPr>
          <p:cNvSpPr/>
          <p:nvPr/>
        </p:nvSpPr>
        <p:spPr>
          <a:xfrm>
            <a:off x="655529" y="1668959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02</a:t>
            </a:r>
            <a:endParaRPr lang="en-US" sz="1050" dirty="0"/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E24129ED-6597-966E-5C2A-BEFBA712D1E6}"/>
              </a:ext>
            </a:extLst>
          </p:cNvPr>
          <p:cNvSpPr/>
          <p:nvPr/>
        </p:nvSpPr>
        <p:spPr>
          <a:xfrm>
            <a:off x="655529" y="1816795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E72E16BF-F644-D9D5-7F39-0AEF9E0E7224}"/>
              </a:ext>
            </a:extLst>
          </p:cNvPr>
          <p:cNvSpPr/>
          <p:nvPr/>
        </p:nvSpPr>
        <p:spPr>
          <a:xfrm>
            <a:off x="655529" y="2120900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03</a:t>
            </a:r>
            <a:endParaRPr lang="en-US" sz="1050" dirty="0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4A52AB02-5A5C-40A3-EAB8-3D9AFF6C4D80}"/>
              </a:ext>
            </a:extLst>
          </p:cNvPr>
          <p:cNvSpPr/>
          <p:nvPr/>
        </p:nvSpPr>
        <p:spPr>
          <a:xfrm>
            <a:off x="655529" y="2268736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35" name="Text 11">
            <a:extLst>
              <a:ext uri="{FF2B5EF4-FFF2-40B4-BE49-F238E27FC236}">
                <a16:creationId xmlns:a16="http://schemas.microsoft.com/office/drawing/2014/main" id="{3E8AF88A-E4F9-418A-902D-B0D55B889DE7}"/>
              </a:ext>
            </a:extLst>
          </p:cNvPr>
          <p:cNvSpPr/>
          <p:nvPr/>
        </p:nvSpPr>
        <p:spPr>
          <a:xfrm>
            <a:off x="655529" y="2572841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04</a:t>
            </a:r>
            <a:endParaRPr lang="en-US" sz="1050" dirty="0"/>
          </a:p>
        </p:txBody>
      </p:sp>
      <p:sp>
        <p:nvSpPr>
          <p:cNvPr id="36" name="Shape 12">
            <a:extLst>
              <a:ext uri="{FF2B5EF4-FFF2-40B4-BE49-F238E27FC236}">
                <a16:creationId xmlns:a16="http://schemas.microsoft.com/office/drawing/2014/main" id="{BB5014CB-CD61-D38B-B7DA-2CD77ED2E532}"/>
              </a:ext>
            </a:extLst>
          </p:cNvPr>
          <p:cNvSpPr/>
          <p:nvPr/>
        </p:nvSpPr>
        <p:spPr>
          <a:xfrm>
            <a:off x="655529" y="2720677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38" name="Text 14">
            <a:extLst>
              <a:ext uri="{FF2B5EF4-FFF2-40B4-BE49-F238E27FC236}">
                <a16:creationId xmlns:a16="http://schemas.microsoft.com/office/drawing/2014/main" id="{9BD7A7B6-1EDC-8B63-AC56-6C39DF7FDC2D}"/>
              </a:ext>
            </a:extLst>
          </p:cNvPr>
          <p:cNvSpPr/>
          <p:nvPr/>
        </p:nvSpPr>
        <p:spPr>
          <a:xfrm>
            <a:off x="655529" y="3024783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05</a:t>
            </a:r>
            <a:endParaRPr lang="en-US" sz="1050" dirty="0"/>
          </a:p>
        </p:txBody>
      </p:sp>
      <p:sp>
        <p:nvSpPr>
          <p:cNvPr id="39" name="Shape 15">
            <a:extLst>
              <a:ext uri="{FF2B5EF4-FFF2-40B4-BE49-F238E27FC236}">
                <a16:creationId xmlns:a16="http://schemas.microsoft.com/office/drawing/2014/main" id="{A0AB1798-464E-C72B-9F98-CB3DCF52ECAA}"/>
              </a:ext>
            </a:extLst>
          </p:cNvPr>
          <p:cNvSpPr/>
          <p:nvPr/>
        </p:nvSpPr>
        <p:spPr>
          <a:xfrm>
            <a:off x="655529" y="3172619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59054B11-3118-A06A-A69A-098648C297A2}"/>
              </a:ext>
            </a:extLst>
          </p:cNvPr>
          <p:cNvSpPr/>
          <p:nvPr/>
        </p:nvSpPr>
        <p:spPr>
          <a:xfrm>
            <a:off x="655529" y="3309329"/>
            <a:ext cx="4764068" cy="5393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On success: user object saved to </a:t>
            </a:r>
            <a:r>
              <a:rPr lang="en-US" sz="1050" dirty="0">
                <a:solidFill>
                  <a:srgbClr val="2C32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localStorage</a:t>
            </a: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as JSON → redirect to sign-in</a:t>
            </a:r>
            <a:endParaRPr lang="en-US" sz="1050" dirty="0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0B88F16F-5453-8323-6AA3-5A5BB13244F3}"/>
              </a:ext>
            </a:extLst>
          </p:cNvPr>
          <p:cNvSpPr/>
          <p:nvPr/>
        </p:nvSpPr>
        <p:spPr>
          <a:xfrm>
            <a:off x="6089900" y="915988"/>
            <a:ext cx="5647192" cy="46874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endParaRPr lang="en-US" sz="1050" dirty="0"/>
          </a:p>
        </p:txBody>
      </p:sp>
      <p:sp>
        <p:nvSpPr>
          <p:cNvPr id="43" name="Shape 19">
            <a:extLst>
              <a:ext uri="{FF2B5EF4-FFF2-40B4-BE49-F238E27FC236}">
                <a16:creationId xmlns:a16="http://schemas.microsoft.com/office/drawing/2014/main" id="{47900C24-B36B-58D4-E68C-0C02A56F817A}"/>
              </a:ext>
            </a:extLst>
          </p:cNvPr>
          <p:cNvSpPr/>
          <p:nvPr/>
        </p:nvSpPr>
        <p:spPr>
          <a:xfrm>
            <a:off x="655529" y="6004719"/>
            <a:ext cx="10868745" cy="250329"/>
          </a:xfrm>
          <a:prstGeom prst="roundRect">
            <a:avLst>
              <a:gd name="adj" fmla="val 15857"/>
            </a:avLst>
          </a:prstGeom>
          <a:solidFill>
            <a:srgbClr val="DFECE9"/>
          </a:solidFill>
          <a:ln/>
        </p:spPr>
        <p:txBody>
          <a:bodyPr/>
          <a:lstStyle/>
          <a:p>
            <a:endParaRPr lang="en-IN" sz="1050"/>
          </a:p>
        </p:txBody>
      </p:sp>
      <p:pic>
        <p:nvPicPr>
          <p:cNvPr id="44" name="Image 0" descr="preencoded.png">
            <a:extLst>
              <a:ext uri="{FF2B5EF4-FFF2-40B4-BE49-F238E27FC236}">
                <a16:creationId xmlns:a16="http://schemas.microsoft.com/office/drawing/2014/main" id="{FDB6FDE3-AD75-EF96-0C8A-22C82F4097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983" y="6075561"/>
            <a:ext cx="118067" cy="94456"/>
          </a:xfrm>
          <a:prstGeom prst="rect">
            <a:avLst/>
          </a:prstGeom>
        </p:spPr>
      </p:pic>
      <p:sp>
        <p:nvSpPr>
          <p:cNvPr id="45" name="Text 20">
            <a:extLst>
              <a:ext uri="{FF2B5EF4-FFF2-40B4-BE49-F238E27FC236}">
                <a16:creationId xmlns:a16="http://schemas.microsoft.com/office/drawing/2014/main" id="{B0BE19C7-F9F5-AC2E-15F3-FFE7D154AC32}"/>
              </a:ext>
            </a:extLst>
          </p:cNvPr>
          <p:cNvSpPr/>
          <p:nvPr/>
        </p:nvSpPr>
        <p:spPr>
          <a:xfrm>
            <a:off x="962504" y="6075561"/>
            <a:ext cx="11076901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No backend required — client-side validation + localStorage replaces a traditional auth server entirely.</a:t>
            </a:r>
            <a:endParaRPr lang="en-US" sz="1050" dirty="0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7166492C-4C9B-E774-932F-9C6167668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3780" y="681491"/>
            <a:ext cx="5130894" cy="5262846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537EF7D4-117C-8980-02F8-7538A623C3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61475" y="913507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Standout Features</a:t>
            </a:r>
            <a:endParaRPr lang="en-US" sz="37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787624"/>
            <a:ext cx="6296860" cy="198387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96451" y="1929408"/>
            <a:ext cx="226808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</a:t>
            </a:r>
            <a:endParaRPr lang="en-US" sz="1750" dirty="0"/>
          </a:p>
        </p:txBody>
      </p:sp>
      <p:sp>
        <p:nvSpPr>
          <p:cNvPr id="6" name="Text 2"/>
          <p:cNvSpPr/>
          <p:nvPr/>
        </p:nvSpPr>
        <p:spPr>
          <a:xfrm>
            <a:off x="875881" y="2543572"/>
            <a:ext cx="586804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Career Path Predictor</a:t>
            </a:r>
            <a:endParaRPr lang="en-US" sz="1850" b="1" dirty="0"/>
          </a:p>
        </p:txBody>
      </p:sp>
      <p:sp>
        <p:nvSpPr>
          <p:cNvPr id="7" name="Text 3"/>
          <p:cNvSpPr/>
          <p:nvPr/>
        </p:nvSpPr>
        <p:spPr>
          <a:xfrm>
            <a:off x="875881" y="2952254"/>
            <a:ext cx="586804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GROQ AI reads a student's full profile and recommends career roles plus personalized skill gap analysis.</a:t>
            </a:r>
            <a:endParaRPr lang="en-US" sz="14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3960515"/>
            <a:ext cx="6296860" cy="198387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696451" y="4102298"/>
            <a:ext cx="226808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2</a:t>
            </a:r>
            <a:endParaRPr lang="en-US" sz="1750" dirty="0"/>
          </a:p>
        </p:txBody>
      </p:sp>
      <p:sp>
        <p:nvSpPr>
          <p:cNvPr id="10" name="Text 5"/>
          <p:cNvSpPr/>
          <p:nvPr/>
        </p:nvSpPr>
        <p:spPr>
          <a:xfrm>
            <a:off x="875881" y="4716463"/>
            <a:ext cx="586804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Battle Mode </a:t>
            </a:r>
            <a:endParaRPr lang="en-US" sz="1850" b="1" dirty="0"/>
          </a:p>
        </p:txBody>
      </p:sp>
      <p:sp>
        <p:nvSpPr>
          <p:cNvPr id="11" name="Text 6"/>
          <p:cNvSpPr/>
          <p:nvPr/>
        </p:nvSpPr>
        <p:spPr>
          <a:xfrm>
            <a:off x="875881" y="5125145"/>
            <a:ext cx="586804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/>
              <a:t>Compete with your friends and collegemates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21F0CA3-6102-6B6A-7139-519AF089E74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835" t="2162" r="13325"/>
          <a:stretch>
            <a:fillRect/>
          </a:stretch>
        </p:blipFill>
        <p:spPr>
          <a:xfrm>
            <a:off x="8005432" y="217722"/>
            <a:ext cx="3546942" cy="215421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C88B5EC-4D33-1CE7-CA9A-E517215175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2741" y="2543572"/>
            <a:ext cx="4982706" cy="398486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4F7BEA8-EC5C-10B5-0F8B-507BC2C392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61475" y="664468"/>
            <a:ext cx="6296860" cy="415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008200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Future Improvisations</a:t>
            </a:r>
            <a:endParaRPr lang="en-US" sz="2600" b="1" dirty="0">
              <a:solidFill>
                <a:srgbClr val="008200"/>
              </a:solidFill>
            </a:endParaRPr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219895"/>
            <a:ext cx="6296860" cy="130919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730135" y="1319510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</a:t>
            </a:r>
            <a:endParaRPr lang="en-US" sz="1250" dirty="0"/>
          </a:p>
        </p:txBody>
      </p:sp>
      <p:sp>
        <p:nvSpPr>
          <p:cNvPr id="6" name="Text 2"/>
          <p:cNvSpPr/>
          <p:nvPr/>
        </p:nvSpPr>
        <p:spPr>
          <a:xfrm>
            <a:off x="813375" y="1751409"/>
            <a:ext cx="5993059" cy="207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Advanced Filter &amp; Sort</a:t>
            </a:r>
            <a:endParaRPr lang="en-US" sz="1300" b="1" dirty="0"/>
          </a:p>
        </p:txBody>
      </p:sp>
      <p:sp>
        <p:nvSpPr>
          <p:cNvPr id="7" name="Text 3"/>
          <p:cNvSpPr/>
          <p:nvPr/>
        </p:nvSpPr>
        <p:spPr>
          <a:xfrm>
            <a:off x="813375" y="2015034"/>
            <a:ext cx="5993059" cy="3621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Multi-field filtering — combine branch + CGPA + semester together, with saved filter presets for quick reuse.</a:t>
            </a:r>
            <a:endParaRPr lang="en-US" sz="10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622451"/>
            <a:ext cx="6296860" cy="1128117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730135" y="2722066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2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813375" y="3153966"/>
            <a:ext cx="5993059" cy="207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Smarter CSV Import</a:t>
            </a:r>
            <a:endParaRPr lang="en-US" sz="1300" b="1" dirty="0"/>
          </a:p>
        </p:txBody>
      </p:sp>
      <p:sp>
        <p:nvSpPr>
          <p:cNvPr id="11" name="Text 6"/>
          <p:cNvSpPr/>
          <p:nvPr/>
        </p:nvSpPr>
        <p:spPr>
          <a:xfrm>
            <a:off x="813375" y="3417590"/>
            <a:ext cx="5993059" cy="181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Schema validation, duplicate detection, and an error preview before committing bulk data.</a:t>
            </a:r>
            <a:endParaRPr lang="en-US" sz="10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3843933"/>
            <a:ext cx="6296860" cy="1128117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3730135" y="3943548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3</a:t>
            </a:r>
            <a:endParaRPr lang="en-US" sz="1250" dirty="0"/>
          </a:p>
        </p:txBody>
      </p:sp>
      <p:sp>
        <p:nvSpPr>
          <p:cNvPr id="14" name="Text 8"/>
          <p:cNvSpPr/>
          <p:nvPr/>
        </p:nvSpPr>
        <p:spPr>
          <a:xfrm>
            <a:off x="813375" y="4375448"/>
            <a:ext cx="5993059" cy="207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Enhanced Semester Wrapped</a:t>
            </a:r>
            <a:endParaRPr lang="en-US" sz="1300" b="1" dirty="0"/>
          </a:p>
        </p:txBody>
      </p:sp>
      <p:sp>
        <p:nvSpPr>
          <p:cNvPr id="15" name="Text 9"/>
          <p:cNvSpPr/>
          <p:nvPr/>
        </p:nvSpPr>
        <p:spPr>
          <a:xfrm>
            <a:off x="813375" y="4639072"/>
            <a:ext cx="5993059" cy="181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Shareable social-card export plus year-over-year comparison to track growth across semesters.</a:t>
            </a:r>
            <a:endParaRPr lang="en-US" sz="10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5065415"/>
            <a:ext cx="6296860" cy="1128117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730135" y="5165030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4</a:t>
            </a:r>
            <a:endParaRPr lang="en-US" sz="1250" dirty="0"/>
          </a:p>
        </p:txBody>
      </p:sp>
      <p:sp>
        <p:nvSpPr>
          <p:cNvPr id="18" name="Text 11"/>
          <p:cNvSpPr/>
          <p:nvPr/>
        </p:nvSpPr>
        <p:spPr>
          <a:xfrm>
            <a:off x="813375" y="5596930"/>
            <a:ext cx="5993059" cy="207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Battle Mode 2.0</a:t>
            </a:r>
            <a:endParaRPr lang="en-US" sz="1300" b="1" dirty="0"/>
          </a:p>
        </p:txBody>
      </p:sp>
      <p:sp>
        <p:nvSpPr>
          <p:cNvPr id="19" name="Text 12"/>
          <p:cNvSpPr/>
          <p:nvPr/>
        </p:nvSpPr>
        <p:spPr>
          <a:xfrm>
            <a:off x="813375" y="5860554"/>
            <a:ext cx="5993059" cy="181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Group battles (3+ students at once) with leaderboard integration for class-wide comparisons.</a:t>
            </a:r>
            <a:endParaRPr lang="en-US" sz="10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35D82B7-6556-64EE-4F47-DF697B456E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  <p:sp>
        <p:nvSpPr>
          <p:cNvPr id="21" name="AutoShape 2">
            <a:extLst>
              <a:ext uri="{FF2B5EF4-FFF2-40B4-BE49-F238E27FC236}">
                <a16:creationId xmlns:a16="http://schemas.microsoft.com/office/drawing/2014/main" id="{A182B1E9-200F-E5BB-D93B-9DC9BDAD78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DD13DE4-2454-8AA0-9074-DBE79FBB31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2852" y="666601"/>
            <a:ext cx="3565773" cy="237718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9F15FEB-CBE9-E7DC-46A1-5366C5E756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5916" y="3361532"/>
            <a:ext cx="4072683" cy="271512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4768"/>
            <a:ext cx="10868745" cy="304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Role-Based Access &amp; Data Persistence</a:t>
            </a:r>
            <a:endParaRPr lang="en-US" sz="1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961132"/>
            <a:ext cx="5315512" cy="531564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4707" y="2449669"/>
            <a:ext cx="5315513" cy="304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localStorage as a Database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214707" y="2900575"/>
            <a:ext cx="5233954" cy="6077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12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All student records are serialized with </a:t>
            </a:r>
            <a:r>
              <a:rPr lang="en-US" sz="1200" dirty="0">
                <a:solidFill>
                  <a:srgbClr val="2C32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JSON.stringify</a:t>
            </a:r>
            <a:r>
              <a:rPr lang="en-US" sz="12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and restored with </a:t>
            </a:r>
            <a:r>
              <a:rPr lang="en-US" sz="1200" dirty="0">
                <a:solidFill>
                  <a:srgbClr val="2C32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JSON.parse</a:t>
            </a:r>
            <a:r>
              <a:rPr lang="en-US" sz="12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. Data survives page refreshes, tab closures, and browser restarts — no server, no sync required.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221058" y="3741241"/>
            <a:ext cx="5507522" cy="633329"/>
          </a:xfrm>
          <a:prstGeom prst="roundRect">
            <a:avLst>
              <a:gd name="adj" fmla="val 15929"/>
            </a:avLst>
          </a:prstGeom>
          <a:solidFill>
            <a:srgbClr val="008200"/>
          </a:solidFill>
          <a:ln>
            <a:solidFill>
              <a:srgbClr val="008200"/>
            </a:solidFill>
          </a:ln>
        </p:spPr>
        <p:txBody>
          <a:bodyPr/>
          <a:lstStyle/>
          <a:p>
            <a:endParaRPr lang="en-IN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8489" y="3815755"/>
            <a:ext cx="121738" cy="9743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18309" y="3810694"/>
            <a:ext cx="5211911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Role enforcement runs on every page load — there is no unprotected route</a:t>
            </a:r>
          </a:p>
          <a:p>
            <a:pPr marL="0" indent="0" algn="l">
              <a:lnSpc>
                <a:spcPct val="101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in Nodus.</a:t>
            </a:r>
            <a:endParaRPr lang="en-US" sz="1200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202F1F-7813-EA2A-15B1-07F28C2B48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0177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Challenges &amp; Learnings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470448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32365" y="2505869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75723" y="2535337"/>
            <a:ext cx="285117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Simulating Auth Without a Backend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1275723" y="3239294"/>
            <a:ext cx="2851178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Implementing login flow and session management purely via localStorage required careful state design to prevent spoofing and unauthorized access.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63135" y="2470448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434025" y="2505869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77383" y="2535337"/>
            <a:ext cx="285117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Cross-Page State Consistency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4977383" y="3239294"/>
            <a:ext cx="2851178" cy="2116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Keeping student data consistent across five separate HTML pages — without a framework's global store — demanded a disciplined read/write contract with localStorage.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064794" y="2470448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135684" y="2505869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679042" y="253533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Client-Side Data Integrity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8679042" y="2944019"/>
            <a:ext cx="2851178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Validating, structuring, and sanitizing data without any server-side layer meant building robust validation logic entirely in vanilla JS.</a:t>
            </a:r>
            <a:endParaRPr lang="en-US" sz="145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9D708ED-ABF0-73EC-9670-608C3DA2E2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375147" y="2792413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8800" b="1" dirty="0">
                <a:solidFill>
                  <a:srgbClr val="008200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“Thank You”</a:t>
            </a:r>
            <a:endParaRPr lang="en-US" sz="8800" b="1" dirty="0">
              <a:solidFill>
                <a:srgbClr val="00820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3924527" y="4054326"/>
            <a:ext cx="907307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-Team Nodus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856832" y="2820194"/>
            <a:ext cx="26631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56832" y="3228876"/>
            <a:ext cx="2663163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43466" y="6213402"/>
            <a:ext cx="266326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08200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GitHub Repository</a:t>
            </a:r>
            <a:endParaRPr lang="en-US" sz="1200" b="1" dirty="0">
              <a:solidFill>
                <a:srgbClr val="008200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4833140" y="5982000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1">
              <a:lnSpc>
                <a:spcPct val="133000"/>
              </a:lnSpc>
            </a:pP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56832" y="4715867"/>
            <a:ext cx="59061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856832" y="5124549"/>
            <a:ext cx="590614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92FDC12-AB99-E569-3FF7-2FC969006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72" y="4552506"/>
            <a:ext cx="1609725" cy="16097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DCF2275-735C-A923-C327-49E06A7196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437066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844</Words>
  <Application>Microsoft Office PowerPoint</Application>
  <PresentationFormat>Widescreen</PresentationFormat>
  <Paragraphs>139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Consolas</vt:lpstr>
      <vt:lpstr>Arial</vt:lpstr>
      <vt:lpstr>Kanit Light</vt:lpstr>
      <vt:lpstr>Martel Sans</vt:lpstr>
      <vt:lpstr>Martel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Pashvinder</dc:creator>
  <cp:lastModifiedBy>Pashvinder Dhiman</cp:lastModifiedBy>
  <cp:revision>7</cp:revision>
  <dcterms:created xsi:type="dcterms:W3CDTF">2026-08-23T10:20:18Z</dcterms:created>
  <dcterms:modified xsi:type="dcterms:W3CDTF">2026-08-23T15:59:02Z</dcterms:modified>
</cp:coreProperties>
</file>