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4" r:id="rId9"/>
    <p:sldId id="275" r:id="rId10"/>
    <p:sldId id="271" r:id="rId11"/>
    <p:sldId id="266" r:id="rId12"/>
    <p:sldId id="262" r:id="rId13"/>
    <p:sldId id="263" r:id="rId14"/>
    <p:sldId id="265" r:id="rId15"/>
    <p:sldId id="267" r:id="rId16"/>
    <p:sldId id="268" r:id="rId17"/>
    <p:sldId id="269" r:id="rId18"/>
    <p:sldId id="270" r:id="rId19"/>
  </p:sldIdLst>
  <p:sldSz cx="12192000" cy="6858000"/>
  <p:notesSz cx="6858000" cy="12192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Kanit Light" panose="020B0604020202020204" charset="-34"/>
      <p:regular r:id="rId25"/>
    </p:embeddedFont>
    <p:embeddedFont>
      <p:font typeface="Martel Sans" panose="020B0604020202020204" charset="0"/>
      <p:regular r:id="rId26"/>
    </p:embeddedFont>
    <p:embeddedFont>
      <p:font typeface="Martel Sans Bold" panose="020B0604020202020204" charset="0"/>
      <p:regular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685F"/>
    <a:srgbClr val="008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7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blipFill dpi="0" rotWithShape="1">
          <a:blip r:embed="rId2">
            <a:alphaModFix amt="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4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7.jpeg"/><Relationship Id="rId4" Type="http://schemas.openxmlformats.org/officeDocument/2006/relationships/image" Target="../media/image27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>
          <a:blip r:embed="rId3">
            <a:alphaModFix amt="0"/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2947570" y="691178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0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Nodus</a:t>
            </a:r>
            <a:endParaRPr lang="en-US" sz="6000" b="1" dirty="0">
              <a:solidFill>
                <a:srgbClr val="008200"/>
              </a:solidFill>
            </a:endParaRPr>
          </a:p>
        </p:txBody>
      </p:sp>
      <p:sp>
        <p:nvSpPr>
          <p:cNvPr id="5" name="Text 1"/>
          <p:cNvSpPr/>
          <p:nvPr/>
        </p:nvSpPr>
        <p:spPr>
          <a:xfrm>
            <a:off x="3050992" y="1710441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 Management System</a:t>
            </a:r>
            <a:endParaRPr lang="en-US" sz="1850" dirty="0">
              <a:solidFill>
                <a:srgbClr val="008200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3050992" y="2071688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000"/>
              </a:lnSpc>
              <a:spcAft>
                <a:spcPts val="1650"/>
              </a:spcAft>
            </a:pPr>
            <a:r>
              <a:rPr lang="en-US" sz="1450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Frontend Engineering II (25CSE020)</a:t>
            </a:r>
            <a:endParaRPr lang="en-US" sz="1450" dirty="0">
              <a:solidFill>
                <a:srgbClr val="008200"/>
              </a:solidFill>
            </a:endParaRPr>
          </a:p>
        </p:txBody>
      </p:sp>
      <p:sp>
        <p:nvSpPr>
          <p:cNvPr id="7" name="Text 3"/>
          <p:cNvSpPr/>
          <p:nvPr/>
        </p:nvSpPr>
        <p:spPr>
          <a:xfrm>
            <a:off x="1528250" y="3542848"/>
            <a:ext cx="629686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Presented By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: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-Pashvinder(Team Leader)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-Anushka Sahrawat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-Kartavya Garg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-Kartik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661475" y="548441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260234-828C-9AB5-C0A2-35CD50539F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65" t="16973"/>
          <a:stretch>
            <a:fillRect/>
          </a:stretch>
        </p:blipFill>
        <p:spPr>
          <a:xfrm>
            <a:off x="4934309" y="2864664"/>
            <a:ext cx="6915393" cy="33021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241BAF-E3FD-84B7-34CB-AB93A1EEAD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63" y="319703"/>
            <a:ext cx="1119188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11684"/>
            <a:ext cx="629686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Problem with Student Data Tools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2117725"/>
            <a:ext cx="2932337" cy="1647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Most student data platforms are </a:t>
            </a:r>
            <a:r>
              <a:rPr lang="en-US" sz="13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dry, form-heavy CRUD systems</a:t>
            </a: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built to store data, not to tell a story. Colleges lack a unified, engaging way to view, manage, and explore student journeys.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298148" y="2304554"/>
            <a:ext cx="2666536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Colleges deserve more than a spreadsheet with a login screen.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032348" y="2155130"/>
            <a:ext cx="19050" cy="1122759"/>
          </a:xfrm>
          <a:prstGeom prst="roundRect">
            <a:avLst>
              <a:gd name="adj" fmla="val 49999"/>
            </a:avLst>
          </a:prstGeom>
          <a:solidFill>
            <a:srgbClr val="43706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101802"/>
            <a:ext cx="1988195" cy="21445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3923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Fragmented Data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33923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single view connects academics, skills, and milestones.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15758" y="4101802"/>
            <a:ext cx="1988195" cy="214451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88206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Zero Engagement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3088206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Static tables don't motivate students or faculty.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0041" y="4101802"/>
            <a:ext cx="1988294" cy="214451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42488" y="4298057"/>
            <a:ext cx="1519596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 Insight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5242488" y="4674592"/>
            <a:ext cx="1519596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Raw records don't surface trends or career signals.</a:t>
            </a:r>
            <a:endParaRPr lang="en-US" sz="1350" dirty="0"/>
          </a:p>
        </p:txBody>
      </p:sp>
      <p:sp>
        <p:nvSpPr>
          <p:cNvPr id="17" name="AutoShape 2">
            <a:extLst>
              <a:ext uri="{FF2B5EF4-FFF2-40B4-BE49-F238E27FC236}">
                <a16:creationId xmlns:a16="http://schemas.microsoft.com/office/drawing/2014/main" id="{5EEAF11B-1CCD-C536-9D84-985295CF85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315712-7349-FEB9-9822-20F9C36EE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3134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Introducing Nodus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50001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student data platform that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actually feels like a product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intuitive, visual, and purpose-built for the modern campus.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56832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Frontend-Only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3619103"/>
            <a:ext cx="310616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Built entirely with HTML, CSS, and vanilla JavaScript — no backend required, fully self-contained.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42716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Persistence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542716" y="3619103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data lives in the browser via localStorage, surviving refreshes and restarts with zero server dependency.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228600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Right-Scoped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228600" y="3619103"/>
            <a:ext cx="310616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frontend-only approach is the ideal scope for this assessment — demonstrating mastery of DOM, state, and UX without backend complexity.</a:t>
            </a:r>
            <a:endParaRPr lang="en-US" sz="14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B746E5-20A2-716D-DD19-4B331D9B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9980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2356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Tech Stack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92238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7572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HTML5 &amp; CSS3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275723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Semantic markup and modern styling form the structural and visual foundation.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192238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7738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Vanilla JavaScript ES6+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977383" y="2665809"/>
            <a:ext cx="28511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Modules, arrow functions, destructuring — modern JS without any framework overhead.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192238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79042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679042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JSON.stringify / JSON.parse power a lightweight, browser-native data persistence layer.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253508"/>
            <a:ext cx="378014" cy="37802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7572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GROQ API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127572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Drives AI-powered features — career prediction and smart teammate matching.</a:t>
            </a:r>
            <a:endParaRPr lang="en-US" sz="1450" dirty="0"/>
          </a:p>
        </p:txBody>
      </p:sp>
      <p:sp>
        <p:nvSpPr>
          <p:cNvPr id="16" name="Text 9"/>
          <p:cNvSpPr/>
          <p:nvPr/>
        </p:nvSpPr>
        <p:spPr>
          <a:xfrm>
            <a:off x="497738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497738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3707FCD-0A31-0C7C-8347-09D98D1823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09538"/>
            <a:ext cx="10868745" cy="5931198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System Architecture</a:t>
            </a:r>
            <a:endParaRPr lang="en-US" sz="1850" dirty="0"/>
          </a:p>
        </p:txBody>
      </p:sp>
      <p:sp>
        <p:nvSpPr>
          <p:cNvPr id="4" name="Text 1"/>
          <p:cNvSpPr/>
          <p:nvPr/>
        </p:nvSpPr>
        <p:spPr>
          <a:xfrm>
            <a:off x="4967679" y="3494603"/>
            <a:ext cx="2249146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Login Routing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967679" y="3872522"/>
            <a:ext cx="2249146" cy="353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Role-based checks on every load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1081" y="2254273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Manage Student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440778" y="2632191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View all students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59204" y="518346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138901" y="5561385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Individual student page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2116" y="167889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Index Page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431813" y="2056814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Overview after login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247247" y="5654229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126944" y="6032148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Compare student data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61475" y="689381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Authentication state is read from localStorage on every page load. Unauthorized roles are redirected immediately — enforcing access control without a server.</a:t>
            </a:r>
            <a:endParaRPr lang="en-US" sz="7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0DC4907-A71C-E9FB-F37B-C67A29089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E3CF8C33-4EBA-E63F-2189-3129D19B550D}"/>
              </a:ext>
            </a:extLst>
          </p:cNvPr>
          <p:cNvGrpSpPr/>
          <p:nvPr/>
        </p:nvGrpSpPr>
        <p:grpSpPr>
          <a:xfrm>
            <a:off x="5576342" y="653851"/>
            <a:ext cx="2249146" cy="980882"/>
            <a:chOff x="8341743" y="3540951"/>
            <a:chExt cx="2984740" cy="1301684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43D799E-132A-DAEC-EDAE-875095ABF76E}"/>
                </a:ext>
              </a:extLst>
            </p:cNvPr>
            <p:cNvSpPr/>
            <p:nvPr/>
          </p:nvSpPr>
          <p:spPr>
            <a:xfrm>
              <a:off x="8341743" y="3540951"/>
              <a:ext cx="2984740" cy="1301684"/>
            </a:xfrm>
            <a:prstGeom prst="roundRect">
              <a:avLst/>
            </a:prstGeom>
            <a:solidFill>
              <a:srgbClr val="3E68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48465B2-3BD8-EA94-4097-D89182B741A4}"/>
                </a:ext>
              </a:extLst>
            </p:cNvPr>
            <p:cNvSpPr txBox="1"/>
            <p:nvPr/>
          </p:nvSpPr>
          <p:spPr>
            <a:xfrm>
              <a:off x="8470801" y="3872522"/>
              <a:ext cx="2594363" cy="610360"/>
            </a:xfrm>
            <a:prstGeom prst="rect">
              <a:avLst/>
            </a:prstGeom>
            <a:solidFill>
              <a:srgbClr val="3E685F"/>
            </a:solidFill>
          </p:spPr>
          <p:txBody>
            <a:bodyPr wrap="square">
              <a:sp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850" dirty="0">
                  <a:solidFill>
                    <a:srgbClr val="FFFFFF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Career Analysis</a:t>
              </a:r>
              <a:br>
                <a:rPr lang="en-US" sz="1850" dirty="0">
                  <a:solidFill>
                    <a:srgbClr val="FFFFFF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</a:br>
              <a:r>
                <a:rPr lang="en-US" sz="1400" dirty="0">
                  <a:solidFill>
                    <a:srgbClr val="FFFFFF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analyze careers</a:t>
              </a:r>
              <a:endParaRPr lang="en-US" sz="185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6812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Core &amp; Profile Features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431256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Management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915543"/>
            <a:ext cx="5203794" cy="1710333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Add / Edit 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students with client-side form validation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Search Student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 and Client Authentication 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endParaRPr lang="en-US" sz="1450" b="1" dirty="0">
              <a:solidFill>
                <a:srgbClr val="2C3249"/>
              </a:solidFill>
              <a:latin typeface="Martel Sans Bold" pitchFamily="34" charset="0"/>
              <a:ea typeface="Martel Sans Bold" pitchFamily="34" charset="-122"/>
              <a:cs typeface="Martel Sans Bold" pitchFamily="34" charset="-120"/>
            </a:endParaRPr>
          </a:p>
          <a:p>
            <a:pPr algn="l">
              <a:lnSpc>
                <a:spcPct val="133000"/>
              </a:lnSpc>
              <a:buSzPct val="100000"/>
            </a:pP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475" y="4478238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Rich Profile View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934446"/>
            <a:ext cx="5203794" cy="2508250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🪪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Exportable Profile PDF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shareable student summary</a:t>
            </a:r>
            <a:endParaRPr lang="en-US" sz="1450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6EE73734-5E8B-0887-12AF-176D028933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2863970" cy="2863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A2ACDD-533F-2FE7-BAFD-6BBC83511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646" y="717430"/>
            <a:ext cx="5591175" cy="61912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F116B-9DC2-5A86-7A0A-C83A68980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preencoded.png">
            <a:extLst>
              <a:ext uri="{FF2B5EF4-FFF2-40B4-BE49-F238E27FC236}">
                <a16:creationId xmlns:a16="http://schemas.microsoft.com/office/drawing/2014/main" id="{4B41637E-9695-ED49-33B1-44FF1CE516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69837" y="247938"/>
            <a:ext cx="5342510" cy="16832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898ADC-7FA3-2F65-6524-6836371FA012}"/>
              </a:ext>
            </a:extLst>
          </p:cNvPr>
          <p:cNvSpPr txBox="1"/>
          <p:nvPr/>
        </p:nvSpPr>
        <p:spPr>
          <a:xfrm>
            <a:off x="4453387" y="761278"/>
            <a:ext cx="6094562" cy="385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Manage All Students</a:t>
            </a:r>
            <a:endParaRPr lang="en-US" sz="185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AC266-E410-26BE-5BE7-E482BA1664F5}"/>
              </a:ext>
            </a:extLst>
          </p:cNvPr>
          <p:cNvSpPr txBox="1"/>
          <p:nvPr/>
        </p:nvSpPr>
        <p:spPr>
          <a:xfrm>
            <a:off x="4220472" y="1021493"/>
            <a:ext cx="6094562" cy="364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/>
              <a:t>Manage Profiles of all students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AAB145-F085-4CB7-FB55-D151DB048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24" y="2191356"/>
            <a:ext cx="10670875" cy="34920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ACEC27B-8964-3F7A-D698-8F7245B5A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612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6546FCBC-3E8E-260C-4A3F-EFBEE0FB7134}"/>
              </a:ext>
            </a:extLst>
          </p:cNvPr>
          <p:cNvGrpSpPr/>
          <p:nvPr/>
        </p:nvGrpSpPr>
        <p:grpSpPr>
          <a:xfrm>
            <a:off x="2869837" y="247938"/>
            <a:ext cx="7611437" cy="1683203"/>
            <a:chOff x="2869837" y="247938"/>
            <a:chExt cx="7611437" cy="1683203"/>
          </a:xfrm>
        </p:grpSpPr>
        <p:pic>
          <p:nvPicPr>
            <p:cNvPr id="3" name="Image 2" descr="preencoded.png">
              <a:extLst>
                <a:ext uri="{FF2B5EF4-FFF2-40B4-BE49-F238E27FC236}">
                  <a16:creationId xmlns:a16="http://schemas.microsoft.com/office/drawing/2014/main" id="{95F1BF04-FC50-8CA7-0C89-9D3D6035DB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69837" y="247938"/>
              <a:ext cx="5342510" cy="1683203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3B12EAF-65A3-7F1A-31E3-C1B829F9E351}"/>
                </a:ext>
              </a:extLst>
            </p:cNvPr>
            <p:cNvSpPr txBox="1"/>
            <p:nvPr/>
          </p:nvSpPr>
          <p:spPr>
            <a:xfrm>
              <a:off x="4386712" y="761278"/>
              <a:ext cx="6094562" cy="3856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850" b="1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Edit Student Details</a:t>
              </a:r>
              <a:endParaRPr lang="en-US" sz="1850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9FE612-FD39-6BBA-4A68-2B17DB46914C}"/>
                </a:ext>
              </a:extLst>
            </p:cNvPr>
            <p:cNvSpPr txBox="1"/>
            <p:nvPr/>
          </p:nvSpPr>
          <p:spPr>
            <a:xfrm>
              <a:off x="3934722" y="1032171"/>
              <a:ext cx="6094562" cy="3640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450" dirty="0"/>
                <a:t>Change the pre-existing details of student </a:t>
              </a: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11A0CC05-CB42-4D9D-B2F0-181CDE6DA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EEB5781-7086-0F7E-664C-A2A069A7E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" y="2159058"/>
            <a:ext cx="10629900" cy="385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0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2FE7F6E-7D6F-C8F3-A555-E8C3FC4B2437}"/>
              </a:ext>
            </a:extLst>
          </p:cNvPr>
          <p:cNvGrpSpPr/>
          <p:nvPr/>
        </p:nvGrpSpPr>
        <p:grpSpPr>
          <a:xfrm>
            <a:off x="2869837" y="247938"/>
            <a:ext cx="7611437" cy="1683203"/>
            <a:chOff x="2869837" y="247938"/>
            <a:chExt cx="7611437" cy="1683203"/>
          </a:xfrm>
        </p:grpSpPr>
        <p:pic>
          <p:nvPicPr>
            <p:cNvPr id="3" name="Image 2" descr="preencoded.png">
              <a:extLst>
                <a:ext uri="{FF2B5EF4-FFF2-40B4-BE49-F238E27FC236}">
                  <a16:creationId xmlns:a16="http://schemas.microsoft.com/office/drawing/2014/main" id="{F2361C5D-A90C-EDA2-8F6C-6A1F619150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69837" y="247938"/>
              <a:ext cx="5342510" cy="168320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FE068AF-2AF6-AB51-A81A-9F3FAFBB72F2}"/>
                </a:ext>
              </a:extLst>
            </p:cNvPr>
            <p:cNvSpPr txBox="1"/>
            <p:nvPr/>
          </p:nvSpPr>
          <p:spPr>
            <a:xfrm>
              <a:off x="4386712" y="761278"/>
              <a:ext cx="6094562" cy="3856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850" b="1" dirty="0">
                  <a:solidFill>
                    <a:srgbClr val="2C3249"/>
                  </a:solidFill>
                  <a:latin typeface="Kanit Light" pitchFamily="34" charset="0"/>
                  <a:ea typeface="Kanit Light" pitchFamily="34" charset="-122"/>
                  <a:cs typeface="Kanit Light" pitchFamily="34" charset="-120"/>
                </a:rPr>
                <a:t>Print Student Details</a:t>
              </a:r>
              <a:endParaRPr lang="en-US" sz="1850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5847BAC-E04A-6AA3-1D4D-CEE36CC87639}"/>
                </a:ext>
              </a:extLst>
            </p:cNvPr>
            <p:cNvSpPr txBox="1"/>
            <p:nvPr/>
          </p:nvSpPr>
          <p:spPr>
            <a:xfrm>
              <a:off x="3934722" y="1032171"/>
              <a:ext cx="6094562" cy="3640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450" dirty="0"/>
                <a:t>Get details of a student in PDF format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13A0286-E3AD-60AD-7C32-873AC28B8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32B3AF-1402-6A0C-B1EF-512B6BF27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519" y="2982477"/>
            <a:ext cx="3638688" cy="20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817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preencoded.png">
            <a:extLst>
              <a:ext uri="{FF2B5EF4-FFF2-40B4-BE49-F238E27FC236}">
                <a16:creationId xmlns:a16="http://schemas.microsoft.com/office/drawing/2014/main" id="{2997A4CA-A98F-5A99-4466-74DEEA26E7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03487" y="104090"/>
            <a:ext cx="5342510" cy="16832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1D1A3B-D4C6-FC49-76E0-DF1EFEB29C0C}"/>
              </a:ext>
            </a:extLst>
          </p:cNvPr>
          <p:cNvSpPr txBox="1"/>
          <p:nvPr/>
        </p:nvSpPr>
        <p:spPr>
          <a:xfrm>
            <a:off x="7280335" y="706288"/>
            <a:ext cx="6094562" cy="385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 </a:t>
            </a:r>
            <a:endParaRPr lang="en-US" sz="185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6BAB4-C00C-B27A-FB30-1D5BDF42ECA0}"/>
              </a:ext>
            </a:extLst>
          </p:cNvPr>
          <p:cNvSpPr txBox="1"/>
          <p:nvPr/>
        </p:nvSpPr>
        <p:spPr>
          <a:xfrm>
            <a:off x="6244330" y="945692"/>
            <a:ext cx="6094562" cy="364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/>
              <a:t>Compete with your friends and collegemates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EDA5DB-5EF6-86E8-36F3-409EFA2C389D}"/>
              </a:ext>
            </a:extLst>
          </p:cNvPr>
          <p:cNvSpPr txBox="1"/>
          <p:nvPr/>
        </p:nvSpPr>
        <p:spPr>
          <a:xfrm>
            <a:off x="7907905" y="101908"/>
            <a:ext cx="474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1</a:t>
            </a:r>
            <a:endParaRPr lang="en-IN" sz="24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FC6715-8179-77A2-BA2E-B2CF0CB61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623" y="1787293"/>
            <a:ext cx="6250563" cy="47483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5EAFD0-4E4E-1656-0EAD-DBD9619B76F8}"/>
              </a:ext>
            </a:extLst>
          </p:cNvPr>
          <p:cNvSpPr txBox="1"/>
          <p:nvPr/>
        </p:nvSpPr>
        <p:spPr>
          <a:xfrm>
            <a:off x="924403" y="265761"/>
            <a:ext cx="6096000" cy="67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Standout Features</a:t>
            </a:r>
            <a:endParaRPr lang="en-US" sz="37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3C71FA5-3549-D11F-D76E-BAF462E7F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60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39626" y="10994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4945" y="215017"/>
            <a:ext cx="4764540" cy="150110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96451" y="192940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4700528" y="736018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Career Path Predictor</a:t>
            </a:r>
            <a:endParaRPr lang="en-US" sz="1850" b="1" dirty="0"/>
          </a:p>
        </p:txBody>
      </p:sp>
      <p:sp>
        <p:nvSpPr>
          <p:cNvPr id="7" name="Text 3"/>
          <p:cNvSpPr/>
          <p:nvPr/>
        </p:nvSpPr>
        <p:spPr>
          <a:xfrm>
            <a:off x="3859494" y="1068346"/>
            <a:ext cx="4218318" cy="480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GROQ AI reads a student's full profile and recommends career roles plus personalized skill gap analysis.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3696451" y="410229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875881" y="4716463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b="1" dirty="0"/>
          </a:p>
        </p:txBody>
      </p:sp>
      <p:sp>
        <p:nvSpPr>
          <p:cNvPr id="11" name="Text 6"/>
          <p:cNvSpPr/>
          <p:nvPr/>
        </p:nvSpPr>
        <p:spPr>
          <a:xfrm>
            <a:off x="875881" y="5125145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21F0CA3-6102-6B6A-7139-519AF089E7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835" t="2162" r="13325"/>
          <a:stretch>
            <a:fillRect/>
          </a:stretch>
        </p:blipFill>
        <p:spPr>
          <a:xfrm>
            <a:off x="2359085" y="2048917"/>
            <a:ext cx="6932404" cy="42103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4F7BEA8-EC5C-10B5-0F8B-507BC2C392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9270F68-4343-25F6-780E-DB7BF8190229}"/>
              </a:ext>
            </a:extLst>
          </p:cNvPr>
          <p:cNvSpPr txBox="1"/>
          <p:nvPr/>
        </p:nvSpPr>
        <p:spPr>
          <a:xfrm>
            <a:off x="3048000" y="319816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1</a:t>
            </a:r>
            <a:endParaRPr lang="en-IN" sz="24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1CB11D-C1BC-68DB-AECB-7AE9EE3D66F5}"/>
              </a:ext>
            </a:extLst>
          </p:cNvPr>
          <p:cNvSpPr txBox="1"/>
          <p:nvPr/>
        </p:nvSpPr>
        <p:spPr>
          <a:xfrm>
            <a:off x="5748338" y="16335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2</a:t>
            </a:r>
            <a:endParaRPr lang="en-IN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8438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Responsive Page</a:t>
            </a:r>
            <a:endParaRPr lang="en-US" sz="3000" b="1" dirty="0"/>
          </a:p>
        </p:txBody>
      </p:sp>
      <p:sp>
        <p:nvSpPr>
          <p:cNvPr id="3" name="Text 1"/>
          <p:cNvSpPr/>
          <p:nvPr/>
        </p:nvSpPr>
        <p:spPr>
          <a:xfrm>
            <a:off x="-805043" y="891864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i="1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Desktop View</a:t>
            </a:r>
            <a:endParaRPr lang="en-US" sz="1200" b="1" dirty="0">
              <a:solidFill>
                <a:srgbClr val="008200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661475" y="5987653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3286637" y="892708"/>
            <a:ext cx="318851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i="1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                          Mobile View</a:t>
            </a:r>
            <a:endParaRPr lang="en-US" sz="1200" b="1" dirty="0">
              <a:solidFill>
                <a:srgbClr val="0082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EEBCA7-F031-58A4-B999-097E1747CE72}"/>
              </a:ext>
            </a:extLst>
          </p:cNvPr>
          <p:cNvCxnSpPr/>
          <p:nvPr/>
        </p:nvCxnSpPr>
        <p:spPr>
          <a:xfrm>
            <a:off x="4397535" y="1336314"/>
            <a:ext cx="0" cy="453261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1D37B9A1-B893-F4AF-03FB-DDE6E391F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573ABA-CB20-0E6E-87AD-2A7A1DBE7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45" b="9445"/>
          <a:stretch>
            <a:fillRect/>
          </a:stretch>
        </p:blipFill>
        <p:spPr>
          <a:xfrm>
            <a:off x="4596318" y="1485315"/>
            <a:ext cx="1767612" cy="31237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3B6E1C-C1AE-FCC6-81E1-72EC60C15B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612" r="20430"/>
          <a:stretch>
            <a:fillRect/>
          </a:stretch>
        </p:blipFill>
        <p:spPr>
          <a:xfrm>
            <a:off x="264301" y="1485315"/>
            <a:ext cx="3669837" cy="295728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2183FF-1358-75CA-E130-DFF1DE8F20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3441" y="1419136"/>
            <a:ext cx="3875721" cy="3639675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3506C53-C574-86E0-D1E7-68A67D022DE5}"/>
              </a:ext>
            </a:extLst>
          </p:cNvPr>
          <p:cNvCxnSpPr/>
          <p:nvPr/>
        </p:nvCxnSpPr>
        <p:spPr>
          <a:xfrm>
            <a:off x="6810054" y="1336314"/>
            <a:ext cx="0" cy="453261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3">
            <a:extLst>
              <a:ext uri="{FF2B5EF4-FFF2-40B4-BE49-F238E27FC236}">
                <a16:creationId xmlns:a16="http://schemas.microsoft.com/office/drawing/2014/main" id="{69BF5EA7-B436-B909-4952-601A53A412C2}"/>
              </a:ext>
            </a:extLst>
          </p:cNvPr>
          <p:cNvSpPr/>
          <p:nvPr/>
        </p:nvSpPr>
        <p:spPr>
          <a:xfrm>
            <a:off x="7710561" y="893693"/>
            <a:ext cx="318851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i="1" dirty="0">
                <a:solidFill>
                  <a:srgbClr val="0082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Tablet View</a:t>
            </a:r>
            <a:endParaRPr lang="en-US" sz="1200" b="1" dirty="0">
              <a:solidFill>
                <a:srgbClr val="0082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54A22C8-4A2B-3799-0D90-5D4D6D7B8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DC593B-A9B0-B3B4-4A4B-32D16C92A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140" y="1880558"/>
            <a:ext cx="7398355" cy="39448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DD536B2-3377-BE36-9475-75189526B3A5}"/>
              </a:ext>
            </a:extLst>
          </p:cNvPr>
          <p:cNvSpPr txBox="1"/>
          <p:nvPr/>
        </p:nvSpPr>
        <p:spPr>
          <a:xfrm>
            <a:off x="4876081" y="464732"/>
            <a:ext cx="1979043" cy="567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Dark Mode </a:t>
            </a:r>
            <a:endParaRPr lang="en-US" sz="30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5528" y="25945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Code Walkthrough — Sign Up &amp; Validation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661475" y="1007374"/>
            <a:ext cx="4764068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 Up Form Fields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61475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6" name="Text 4"/>
          <p:cNvSpPr/>
          <p:nvPr/>
        </p:nvSpPr>
        <p:spPr>
          <a:xfrm>
            <a:off x="661475" y="1437481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Name, Email, Username, Phone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1475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1475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9" name="Text 7"/>
          <p:cNvSpPr/>
          <p:nvPr/>
        </p:nvSpPr>
        <p:spPr>
          <a:xfrm>
            <a:off x="661475" y="1889423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Password + Confirm Password (strength-checked)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1475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2" name="Text 10"/>
          <p:cNvSpPr/>
          <p:nvPr/>
        </p:nvSpPr>
        <p:spPr>
          <a:xfrm>
            <a:off x="661475" y="2341364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selection —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or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Viewer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1475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1475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5" name="Text 13"/>
          <p:cNvSpPr/>
          <p:nvPr/>
        </p:nvSpPr>
        <p:spPr>
          <a:xfrm>
            <a:off x="661475" y="2793305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Terms &amp; Conditions checkbox — required to submit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1475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1475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1" name="Shape 19"/>
          <p:cNvSpPr/>
          <p:nvPr/>
        </p:nvSpPr>
        <p:spPr>
          <a:xfrm>
            <a:off x="661475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075561"/>
            <a:ext cx="118067" cy="9445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68450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44B1E5D-AE0A-F70D-C33B-C5067DD94AC0}"/>
              </a:ext>
            </a:extLst>
          </p:cNvPr>
          <p:cNvSpPr/>
          <p:nvPr/>
        </p:nvSpPr>
        <p:spPr>
          <a:xfrm>
            <a:off x="655529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EDA1E3BB-EE6D-788E-6E44-7329C5E971B6}"/>
              </a:ext>
            </a:extLst>
          </p:cNvPr>
          <p:cNvSpPr/>
          <p:nvPr/>
        </p:nvSpPr>
        <p:spPr>
          <a:xfrm>
            <a:off x="655529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48162A27-0729-B30D-B444-29469C3C91BF}"/>
              </a:ext>
            </a:extLst>
          </p:cNvPr>
          <p:cNvSpPr/>
          <p:nvPr/>
        </p:nvSpPr>
        <p:spPr>
          <a:xfrm>
            <a:off x="655529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E24129ED-6597-966E-5C2A-BEFBA712D1E6}"/>
              </a:ext>
            </a:extLst>
          </p:cNvPr>
          <p:cNvSpPr/>
          <p:nvPr/>
        </p:nvSpPr>
        <p:spPr>
          <a:xfrm>
            <a:off x="655529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E72E16BF-F644-D9D5-7F39-0AEF9E0E7224}"/>
              </a:ext>
            </a:extLst>
          </p:cNvPr>
          <p:cNvSpPr/>
          <p:nvPr/>
        </p:nvSpPr>
        <p:spPr>
          <a:xfrm>
            <a:off x="655529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4A52AB02-5A5C-40A3-EAB8-3D9AFF6C4D80}"/>
              </a:ext>
            </a:extLst>
          </p:cNvPr>
          <p:cNvSpPr/>
          <p:nvPr/>
        </p:nvSpPr>
        <p:spPr>
          <a:xfrm>
            <a:off x="655529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E8AF88A-E4F9-418A-902D-B0D55B889DE7}"/>
              </a:ext>
            </a:extLst>
          </p:cNvPr>
          <p:cNvSpPr/>
          <p:nvPr/>
        </p:nvSpPr>
        <p:spPr>
          <a:xfrm>
            <a:off x="655529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BB5014CB-CD61-D38B-B7DA-2CD77ED2E532}"/>
              </a:ext>
            </a:extLst>
          </p:cNvPr>
          <p:cNvSpPr/>
          <p:nvPr/>
        </p:nvSpPr>
        <p:spPr>
          <a:xfrm>
            <a:off x="655529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9BD7A7B6-1EDC-8B63-AC56-6C39DF7FDC2D}"/>
              </a:ext>
            </a:extLst>
          </p:cNvPr>
          <p:cNvSpPr/>
          <p:nvPr/>
        </p:nvSpPr>
        <p:spPr>
          <a:xfrm>
            <a:off x="655529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A0AB1798-464E-C72B-9F98-CB3DCF52ECAA}"/>
              </a:ext>
            </a:extLst>
          </p:cNvPr>
          <p:cNvSpPr/>
          <p:nvPr/>
        </p:nvSpPr>
        <p:spPr>
          <a:xfrm>
            <a:off x="655529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59054B11-3118-A06A-A69A-098648C297A2}"/>
              </a:ext>
            </a:extLst>
          </p:cNvPr>
          <p:cNvSpPr/>
          <p:nvPr/>
        </p:nvSpPr>
        <p:spPr>
          <a:xfrm>
            <a:off x="655529" y="3309329"/>
            <a:ext cx="4764068" cy="539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On success: user object saved to </a:t>
            </a:r>
            <a:r>
              <a:rPr lang="en-US" sz="105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as JSON → redirect to sign-in</a:t>
            </a:r>
            <a:endParaRPr lang="en-US" sz="105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0B88F16F-5453-8323-6AA3-5A5BB13244F3}"/>
              </a:ext>
            </a:extLst>
          </p:cNvPr>
          <p:cNvSpPr/>
          <p:nvPr/>
        </p:nvSpPr>
        <p:spPr>
          <a:xfrm>
            <a:off x="6089900" y="915988"/>
            <a:ext cx="5647192" cy="4687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050" dirty="0"/>
          </a:p>
        </p:txBody>
      </p:sp>
      <p:sp>
        <p:nvSpPr>
          <p:cNvPr id="43" name="Shape 19">
            <a:extLst>
              <a:ext uri="{FF2B5EF4-FFF2-40B4-BE49-F238E27FC236}">
                <a16:creationId xmlns:a16="http://schemas.microsoft.com/office/drawing/2014/main" id="{47900C24-B36B-58D4-E68C-0C02A56F817A}"/>
              </a:ext>
            </a:extLst>
          </p:cNvPr>
          <p:cNvSpPr/>
          <p:nvPr/>
        </p:nvSpPr>
        <p:spPr>
          <a:xfrm>
            <a:off x="655529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44" name="Image 0" descr="preencoded.png">
            <a:extLst>
              <a:ext uri="{FF2B5EF4-FFF2-40B4-BE49-F238E27FC236}">
                <a16:creationId xmlns:a16="http://schemas.microsoft.com/office/drawing/2014/main" id="{FDB6FDE3-AD75-EF96-0C8A-22C82F409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83" y="6075561"/>
            <a:ext cx="118067" cy="94456"/>
          </a:xfrm>
          <a:prstGeom prst="rect">
            <a:avLst/>
          </a:prstGeom>
        </p:spPr>
      </p:pic>
      <p:sp>
        <p:nvSpPr>
          <p:cNvPr id="45" name="Text 20">
            <a:extLst>
              <a:ext uri="{FF2B5EF4-FFF2-40B4-BE49-F238E27FC236}">
                <a16:creationId xmlns:a16="http://schemas.microsoft.com/office/drawing/2014/main" id="{B0BE19C7-F9F5-AC2E-15F3-FFE7D154AC32}"/>
              </a:ext>
            </a:extLst>
          </p:cNvPr>
          <p:cNvSpPr/>
          <p:nvPr/>
        </p:nvSpPr>
        <p:spPr>
          <a:xfrm>
            <a:off x="962504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166492C-4C9B-E774-932F-9C6167668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780" y="681491"/>
            <a:ext cx="5130894" cy="526284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37EF7D4-117C-8980-02F8-7538A623C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664468"/>
            <a:ext cx="6296860" cy="415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Future Improvisations</a:t>
            </a:r>
            <a:endParaRPr lang="en-US" sz="2600" b="1" dirty="0">
              <a:solidFill>
                <a:srgbClr val="008200"/>
              </a:solidFill>
            </a:endParaRPr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219895"/>
            <a:ext cx="6296860" cy="130919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730135" y="131951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813375" y="1751409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Advanced Filter &amp; Sort</a:t>
            </a:r>
            <a:endParaRPr lang="en-US" sz="1300" b="1" dirty="0"/>
          </a:p>
        </p:txBody>
      </p:sp>
      <p:sp>
        <p:nvSpPr>
          <p:cNvPr id="7" name="Text 3"/>
          <p:cNvSpPr/>
          <p:nvPr/>
        </p:nvSpPr>
        <p:spPr>
          <a:xfrm>
            <a:off x="813375" y="2015034"/>
            <a:ext cx="5993059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Multi-field filtering — combine branch + CGPA + semester together, with saved filter presets for quick reuse.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22451"/>
            <a:ext cx="6296860" cy="112811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30135" y="2722066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813375" y="3153966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Smarter CSV Import</a:t>
            </a:r>
            <a:endParaRPr lang="en-US" sz="1300" b="1" dirty="0"/>
          </a:p>
        </p:txBody>
      </p:sp>
      <p:sp>
        <p:nvSpPr>
          <p:cNvPr id="11" name="Text 6"/>
          <p:cNvSpPr/>
          <p:nvPr/>
        </p:nvSpPr>
        <p:spPr>
          <a:xfrm>
            <a:off x="813375" y="3417590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Schema validation, duplicate detection, and an error preview before committing bulk data.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843933"/>
            <a:ext cx="6296860" cy="112811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30135" y="3943548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813375" y="4375448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Enhanced Semester Wrapped</a:t>
            </a:r>
            <a:endParaRPr lang="en-US" sz="1300" b="1" dirty="0"/>
          </a:p>
        </p:txBody>
      </p:sp>
      <p:sp>
        <p:nvSpPr>
          <p:cNvPr id="15" name="Text 9"/>
          <p:cNvSpPr/>
          <p:nvPr/>
        </p:nvSpPr>
        <p:spPr>
          <a:xfrm>
            <a:off x="813375" y="4639072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Shareable social-card export plus year-over-year comparison to track growth across semesters.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065415"/>
            <a:ext cx="6296860" cy="112811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730135" y="516503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813375" y="5596930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 2.0</a:t>
            </a:r>
            <a:endParaRPr lang="en-US" sz="1300" b="1" dirty="0"/>
          </a:p>
        </p:txBody>
      </p:sp>
      <p:sp>
        <p:nvSpPr>
          <p:cNvPr id="19" name="Text 12"/>
          <p:cNvSpPr/>
          <p:nvPr/>
        </p:nvSpPr>
        <p:spPr>
          <a:xfrm>
            <a:off x="813375" y="5860554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Group battles (3+ students at once) with leaderboard integration for class-wide comparisons.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5D82B7-6556-64EE-4F47-DF697B456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  <p:sp>
        <p:nvSpPr>
          <p:cNvPr id="21" name="AutoShape 2">
            <a:extLst>
              <a:ext uri="{FF2B5EF4-FFF2-40B4-BE49-F238E27FC236}">
                <a16:creationId xmlns:a16="http://schemas.microsoft.com/office/drawing/2014/main" id="{A182B1E9-200F-E5BB-D93B-9DC9BDAD78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DD13DE4-2454-8AA0-9074-DBE79FBB31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2852" y="666601"/>
            <a:ext cx="3565773" cy="237718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9F15FEB-CBE9-E7DC-46A1-5366C5E756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5916" y="3361532"/>
            <a:ext cx="4072683" cy="271512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Role-Based Access &amp; Data Persistence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4707" y="2449669"/>
            <a:ext cx="5315513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as a Database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14707" y="2900575"/>
            <a:ext cx="5233954" cy="607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records are serialized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JSON.stringify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and restored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. Data survives page refreshes, tab closures, and browser restarts — no server, no sync required.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221058" y="3741241"/>
            <a:ext cx="5507522" cy="633329"/>
          </a:xfrm>
          <a:prstGeom prst="roundRect">
            <a:avLst>
              <a:gd name="adj" fmla="val 15929"/>
            </a:avLst>
          </a:prstGeom>
          <a:solidFill>
            <a:srgbClr val="008200"/>
          </a:solidFill>
          <a:ln>
            <a:solidFill>
              <a:srgbClr val="008200"/>
            </a:solidFill>
          </a:ln>
        </p:spPr>
        <p:txBody>
          <a:bodyPr/>
          <a:lstStyle/>
          <a:p>
            <a:endParaRPr lang="en-IN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489" y="3815755"/>
            <a:ext cx="121738" cy="974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18309" y="3810694"/>
            <a:ext cx="521191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enforcement runs on every page load — there is no unprotected route</a:t>
            </a:r>
          </a:p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in Nodus.</a:t>
            </a: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202F1F-7813-EA2A-15B1-07F28C2B4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177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Challenges &amp; Learnings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236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Simulating Auth Without a Backend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275723" y="3239294"/>
            <a:ext cx="285117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Implementing login flow and session management purely via localStorage required careful state design to prevent spoofing and unauthorized access.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6313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43402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7738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Cross-Page State Consistency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4977383" y="3239294"/>
            <a:ext cx="2851178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Keeping student data consistent across five separate HTML pages — without a framework's global store — demanded a disciplined read/write contract with localStorage.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64794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135684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79042" y="253533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Client-Side Data Integrity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679042" y="2944019"/>
            <a:ext cx="2851178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Validating, structuring, and sanitizing data without any server-side layer meant building robust validation logic entirely in vanilla JS.</a:t>
            </a: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D708ED-ABF0-73EC-9670-608C3DA2E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375147" y="279241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8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“Thank You”</a:t>
            </a:r>
            <a:endParaRPr lang="en-US" sz="8800" b="1" dirty="0">
              <a:solidFill>
                <a:srgbClr val="00820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3924527" y="4054326"/>
            <a:ext cx="907307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-Team Nodus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832" y="2820194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3228876"/>
            <a:ext cx="266316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43466" y="6213402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8200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GitHub Repository</a:t>
            </a:r>
            <a:endParaRPr lang="en-US" sz="1200" b="1" dirty="0">
              <a:solidFill>
                <a:srgbClr val="0082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833140" y="5982000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>
              <a:lnSpc>
                <a:spcPct val="133000"/>
              </a:lnSpc>
            </a:pP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56832" y="4715867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6832" y="5124549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92FDC12-AB99-E569-3FF7-2FC969006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72" y="4552506"/>
            <a:ext cx="1609725" cy="1609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CF2275-735C-A923-C327-49E06A719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5" y="50455"/>
            <a:ext cx="329125" cy="329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437066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778</Words>
  <Application>Microsoft Office PowerPoint</Application>
  <PresentationFormat>Widescreen</PresentationFormat>
  <Paragraphs>137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Kanit Light</vt:lpstr>
      <vt:lpstr>Consolas</vt:lpstr>
      <vt:lpstr>Martel Sans</vt:lpstr>
      <vt:lpstr>Martel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Pashvinder</dc:creator>
  <cp:lastModifiedBy>Pashvinder Dhiman</cp:lastModifiedBy>
  <cp:revision>11</cp:revision>
  <dcterms:created xsi:type="dcterms:W3CDTF">2026-08-23T10:20:18Z</dcterms:created>
  <dcterms:modified xsi:type="dcterms:W3CDTF">2026-08-27T13:46:24Z</dcterms:modified>
</cp:coreProperties>
</file>